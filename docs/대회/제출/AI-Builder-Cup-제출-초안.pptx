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72" r:id="rId12"/>
    <p:sldId id="268" r:id="rId13"/>
    <p:sldId id="273" r:id="rId14"/>
    <p:sldId id="270" r:id="rId15"/>
    <p:sldId id="269" r:id="rId16"/>
    <p:sldId id="274" r:id="rId17"/>
    <p:sldId id="271" r:id="rId18"/>
  </p:sldIdLst>
  <p:sldSz cx="9144000" cy="5143500" type="screen16x9"/>
  <p:notesSz cx="6858000" cy="9144000"/>
  <p:embeddedFontLst>
    <p:embeddedFont>
      <p:font typeface="Google Sans Flex" panose="020B0600000101010101" charset="0"/>
      <p:regular r:id="rId20"/>
      <p:bold r:id="rId21"/>
    </p:embeddedFont>
    <p:embeddedFont>
      <p:font typeface="Google Sans Flex Medium" panose="020B0600000101010101" charset="0"/>
      <p:regular r:id="rId22"/>
      <p:bold r:id="rId23"/>
    </p:embeddedFont>
    <p:embeddedFont>
      <p:font typeface="Google Sans Flex SemiBold" panose="020B0600000101010101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1022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font" Target="fonts/font6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Gen Z</c:v>
                </c:pt>
              </c:strCache>
            </c:strRef>
          </c:tx>
          <c:spPr>
            <a:solidFill>
              <a:srgbClr val="B8C0CC"/>
            </a:solidFill>
          </c:spPr>
          <c:invertIfNegative val="1"/>
          <c:dPt>
            <c:idx val="2"/>
            <c:invertIfNegative val="1"/>
            <c:bubble3D val="0"/>
            <c:spPr>
              <a:solidFill>
                <a:srgbClr val="121826"/>
              </a:solidFill>
            </c:spPr>
            <c:extLst>
              <c:ext xmlns:c16="http://schemas.microsoft.com/office/drawing/2014/chart" uri="{C3380CC4-5D6E-409C-BE32-E72D297353CC}">
                <c16:uniqueId val="{00000001-7256-4086-A7FB-C331579A2C3C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121826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Disliked it</c:v>
                </c:pt>
                <c:pt idx="1">
                  <c:v>Liked it</c:v>
                </c:pt>
                <c:pt idx="2">
                  <c:v>Saw brands use slang or trends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0.32</c:v>
                </c:pt>
                <c:pt idx="1">
                  <c:v>0.42</c:v>
                </c:pt>
                <c:pt idx="2">
                  <c:v>0.71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7256-4086-A7FB-C331579A2C3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fit</c:v>
                </c:pt>
              </c:strCache>
            </c:strRef>
          </c:tx>
          <c:spPr>
            <a:solidFill>
              <a:srgbClr val="B8C0CC"/>
            </a:solidFill>
          </c:spPr>
          <c:invertIfNegative val="1"/>
          <c:dPt>
            <c:idx val="5"/>
            <c:invertIfNegative val="1"/>
            <c:bubble3D val="0"/>
            <c:spPr>
              <a:solidFill>
                <a:srgbClr val="121826"/>
              </a:solidFill>
            </c:spPr>
            <c:extLst>
              <c:ext xmlns:c16="http://schemas.microsoft.com/office/drawing/2014/chart" uri="{C3380CC4-5D6E-409C-BE32-E72D297353CC}">
                <c16:uniqueId val="{00000001-45FA-4D1D-8A92-7AA35A39DBEA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121826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R4</c:v>
                </c:pt>
                <c:pt idx="1">
                  <c:v>R5</c:v>
                </c:pt>
                <c:pt idx="2">
                  <c:v>R6</c:v>
                </c:pt>
                <c:pt idx="3">
                  <c:v>R7</c:v>
                </c:pt>
                <c:pt idx="4">
                  <c:v>R8</c:v>
                </c:pt>
                <c:pt idx="5">
                  <c:v>R9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0.56999999999999995</c:v>
                </c:pt>
                <c:pt idx="2">
                  <c:v>0.63</c:v>
                </c:pt>
                <c:pt idx="3">
                  <c:v>0.85</c:v>
                </c:pt>
                <c:pt idx="4">
                  <c:v>0.67</c:v>
                </c:pt>
                <c:pt idx="5">
                  <c:v>0.91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45FA-4D1D-8A92-7AA35A39DBE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CE1E8"/>
            </a:solidFill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.0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Team and leader confirmed (2026-10-11).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Sources: Starbucks Korea 'Tank Day' – The Korea Herald 2026-05-19 https://www.koreaherald.com/article/10741050 (pulled within hours, CEO fired, Seattle apology, Emart −6%). Pyrah, Wang, Li, Xie, 'The Slang Paradox: Connecting or Disconnecting with Consumers?', Journal of Marketing Research 62(5), 2025 – BakeryandSnacks 2026-08-21 https://www.bakeryandsnacks.com/Article/2026/08/21/why-internet-slang-can-damage-food-and-drink-brands/ . Morning Consult 2024-12-09 https://intel.morningconsult.com/mc-content/analysis/brands-social-media-trends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Comparison from public pages, checked 2026-10-11. Brandwatch: Consumer Research one-pager (volume, peak detection, Iris), React Score (brand-mention risk), 44-language sentiment, Iris Writing Assistant (beta). Know Your Meme: entries with origin and numbered references, English only. Google Trends: relative 0-100 index, Rising/Breakout, 100+ countries, Gemini panel cites nothing. TikTok Creative Center: posts/views per hashtag, trendline, country picker incl. KR JP TW TH VN ID PH MY SG AU; Symphony writes scripts, no review step documented. See the Sources slide.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Screenshots of the deployed service, 2026-10-11 (data collected 2026-10-09). Retake after the 10-16 data refresh.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Cases from the round 4, 5, 8 and 9 judgments recorded in EVALUATION.md (Plan 09). No invented examples.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Japan: CyberBuzz x Digital InFact via Web担当者Forum 2024-11-14 (¥1.2038T, +13%). Korea: KOBACO survey via journalist.or.kr 2026-01-08 (₩10.10T, 59%). Sprout Social pricing page 2026-10-11. Brandwatch median $50,000/yr: Vendr Feb 2026 (secondary procurement data). Draft cost: 1 brief + 3 x (copy + opinion) = 7 calls x $0.0015.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Before submission: confirm the Trend web and API are deployed on Cloud Run with Cloud SQL (Plan 05), then fill in the product URL and the demo video link.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URLs: 1 https://www.koreaherald.com/article/10741050 · 2 https://www.koreajoongangdaily.com/business/starbucks-korea-weekly-sales-sink-8-billion-won-in-wake-of-tank-day-controversy/12612519 · 3 https://www.bakeryandsnacks.com/Article/2026/08/21/why-internet-slang-can-damage-food-and-drink-brands/ · 4 https://intel.morningconsult.com/mc-content/analysis/brands-social-media-trends · 5 https://www.brandwatch.com/blog/introducing-react-score/ · 6 https://knowyourmeme.com/about · 7 https://support.google.com/trends/answer/4365533 · 8 https://ads.tiktok.com/help/article/trend-discovery · 9 https://cloud.google.com/vertex-ai/generative-ai/pricing · 11 https://webtan.impress.co.jp/n/2024/11/14/48107 · 12 https://www.journalist.or.kr/news/article.html?no=60072 · 13 https://sproutsocial.com/pricing/ · 14 https://www.vendr.com/marketplace/brandwatch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chart" Target="../charts/chart1.xml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8.png"/><Relationship Id="rId6" Type="http://schemas.openxmlformats.org/officeDocument/2006/relationships/image" Target="../media/image20.png"/><Relationship Id="rId7" Type="http://schemas.openxmlformats.org/officeDocument/2006/relationships/image" Target="../media/image15.png"/><Relationship Id="rId8" Type="http://schemas.openxmlformats.org/officeDocument/2006/relationships/image" Target="../media/image23.png"/><Relationship Id="rId9" Type="http://schemas.openxmlformats.org/officeDocument/2006/relationships/image" Target="../media/image33.png"/><Relationship Id="rId10" Type="http://schemas.openxmlformats.org/officeDocument/2006/relationships/image" Target="../media/image22.png"/><Relationship Id="rId11" Type="http://schemas.openxmlformats.org/officeDocument/2006/relationships/image" Target="../media/image21.png"/><Relationship Id="rId12" Type="http://schemas.openxmlformats.org/officeDocument/2006/relationships/image" Target="../media/image11.png"/><Relationship Id="rId13" Type="http://schemas.openxmlformats.org/officeDocument/2006/relationships/image" Target="../media/image41.png"/><Relationship Id="rId14" Type="http://schemas.openxmlformats.org/officeDocument/2006/relationships/image" Target="../media/image9.png"/><Relationship Id="rId15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2.xml"/><Relationship Id="rId6" Type="http://schemas.openxmlformats.org/officeDocument/2006/relationships/image" Target="../media/image26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2.png"/><Relationship Id="rId10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COPYBARA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Choi Eunji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 Media, Content &amp; Digital Experiences – brand marketers and short-form creators in JAPAC cannot tell whether a trending meme is still alive, safe for a brand, or how to use it in their own market.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80160"/>
            <a:ext cx="8412480" cy="64848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21826"/>
                </a:solidFill>
                <a:latin typeface="Google Sans Flex"/>
              </a:rPr>
              <a:t>Trend Interpreter </a:t>
            </a:r>
            <a:r>
              <a:rPr sz="1350" b="0" i="0">
                <a:solidFill>
                  <a:srgbClr val="121826"/>
                </a:solidFill>
                <a:latin typeface="Google Sans Flex"/>
              </a:rPr>
              <a:t>turns one product into local copy for each market – Korea, Japan and English-language – using memes that are in use there now and safe for a brand, with a source behind every claim and a person approving before anything goes out.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" y="2058347"/>
            <a:ext cx="3529584" cy="2593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Why now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0" y="2058347"/>
            <a:ext cx="4206240" cy="72630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120640" y="2144812"/>
            <a:ext cx="3511296" cy="24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Create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18304" y="2386915"/>
            <a:ext cx="3959352" cy="3804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Photo + one line, pick markets → rules pick one meme per market, with why and what was left out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0" y="2897060"/>
            <a:ext cx="4206240" cy="72630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120640" y="2983526"/>
            <a:ext cx="3511296" cy="24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448E0"/>
                </a:solidFill>
                <a:latin typeface="Google Sans Flex"/>
              </a:rPr>
              <a:t>Approve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8304" y="3225628"/>
            <a:ext cx="3959352" cy="3804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writes 4 lines, a video script and a thumbnail plan; rules re-check each line; a person approves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0" y="3735774"/>
            <a:ext cx="4206240" cy="72630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120640" y="3822239"/>
            <a:ext cx="3511296" cy="24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Check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18304" y="4064342"/>
            <a:ext cx="3959352" cy="3804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Every meme links to its dictionary entry and sources; paste your own copy to see what is risky or fading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Theme: Media, Content &amp; Digital Experiences  ·  Copy for KR, JP and English markets  ·  Trends for 10 JAPAC markets + global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2343683"/>
            <a:ext cx="3931920" cy="112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May 2026  ·  Starbucks Korea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A “Tank Day” pun on the 5·18 democracy anniversary: pulled within hours, CEO fired, card sales −26% that week.</a:t>
            </a:r>
          </a:p>
          <a:p>
            <a:pPr>
              <a:spcBef>
                <a:spcPts val="70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2025  ·  Journal of Marketing Research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Shoppers read brand slang as inauthentic, and young consumers as negatively as older ones.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365760" y="3528257"/>
          <a:ext cx="3931920" cy="907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" name="TextBox 89"/>
          <p:cNvSpPr txBox="1"/>
          <p:nvPr/>
        </p:nvSpPr>
        <p:spPr>
          <a:xfrm>
            <a:off x="365760" y="4444789"/>
            <a:ext cx="3931920" cy="1729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750" b="0">
                <a:solidFill>
                  <a:srgbClr val="566074"/>
                </a:solidFill>
                <a:latin typeface="Google Sans Flex"/>
              </a:rPr>
              <a:t>Gen Z social media users, past month · Morning Consult, Dec 2024 (n = 1,002)</a:t>
            </a:r>
          </a:p>
        </p:txBody>
      </p:sp>
      <p:sp>
        <p:nvSpPr>
          <p:cNvPr id="91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One product, local copy for every market – with memes that are safe to use now</a:t>
            </a:r>
          </a:p>
        </p:txBody>
      </p:sp>
      <p:sp>
        <p:nvSpPr>
          <p:cNvPr id="92" name="Icon badge news"/>
          <p:cNvSpPr/>
          <p:nvPr/>
        </p:nvSpPr>
        <p:spPr>
          <a:xfrm>
            <a:off x="365760" y="1998149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Icon news" descr="new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" y="2057585"/>
            <a:ext cx="192024" cy="192024"/>
          </a:xfrm>
          <a:prstGeom prst="rect">
            <a:avLst/>
          </a:prstGeom>
        </p:spPr>
      </p:pic>
      <p:sp>
        <p:nvSpPr>
          <p:cNvPr id="94" name="Icon badge create"/>
          <p:cNvSpPr/>
          <p:nvPr/>
        </p:nvSpPr>
        <p:spPr>
          <a:xfrm>
            <a:off x="4718304" y="208461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Icon create" descr="cre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740" y="2144050"/>
            <a:ext cx="192024" cy="192024"/>
          </a:xfrm>
          <a:prstGeom prst="rect">
            <a:avLst/>
          </a:prstGeom>
        </p:spPr>
      </p:pic>
      <p:sp>
        <p:nvSpPr>
          <p:cNvPr id="96" name="Icon badge approve"/>
          <p:cNvSpPr/>
          <p:nvPr/>
        </p:nvSpPr>
        <p:spPr>
          <a:xfrm>
            <a:off x="4718304" y="2923328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Icon approve" descr="appro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7740" y="2982764"/>
            <a:ext cx="192024" cy="192024"/>
          </a:xfrm>
          <a:prstGeom prst="rect">
            <a:avLst/>
          </a:prstGeom>
        </p:spPr>
      </p:pic>
      <p:sp>
        <p:nvSpPr>
          <p:cNvPr id="98" name="Icon badge check"/>
          <p:cNvSpPr/>
          <p:nvPr/>
        </p:nvSpPr>
        <p:spPr>
          <a:xfrm>
            <a:off x="4718304" y="3762041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Icon check" descr="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7740" y="3821477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633847" y="1413662"/>
            <a:ext cx="2024871" cy="3560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USP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1511" y="1903170"/>
            <a:ext cx="2390431" cy="26255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Evidence first: no source, no claim</a:t>
            </a:r>
          </a:p>
          <a:p>
            <a:pPr marL="146304" indent="-146304" algn="l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The model never marks a meme “safe” on its own</a:t>
            </a:r>
          </a:p>
          <a:p>
            <a:pPr marL="146304" indent="-146304" algn="l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10 JAPAC markets, collected globally</a:t>
            </a:r>
          </a:p>
          <a:p>
            <a:pPr marL="146304" indent="-146304" algn="l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From one product to approved local copy in one flow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475488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800" b="0">
                <a:solidFill>
                  <a:srgbClr val="566074"/>
                </a:solidFill>
                <a:latin typeface="Google Sans Flex"/>
              </a:rPr>
              <a:t>●  yes   ○  partly   –  not offered or not published · each product’s public pages, 11 Oct 2026</a:t>
            </a:r>
          </a:p>
        </p:txBody>
      </p:sp>
      <p:sp>
        <p:nvSpPr>
          <p:cNvPr id="94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Each tool answers one question; we answer “can my brand use this here, now?”</a:t>
            </a:r>
          </a:p>
        </p:txBody>
      </p:sp>
      <p:graphicFrame>
        <p:nvGraphicFramePr>
          <p:cNvPr id="95" name="Table 94"/>
          <p:cNvGraphicFramePr>
            <a:graphicFrameLocks noGrp="1"/>
          </p:cNvGraphicFramePr>
          <p:nvPr/>
        </p:nvGraphicFramePr>
        <p:xfrm>
          <a:off x="365760" y="1324660"/>
          <a:ext cx="5486400" cy="32506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Brandwatch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Know Your Meme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Google Trends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TikTok Creative Center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21826"/>
                          </a:solidFill>
                          <a:latin typeface="Google Sans Flex"/>
                        </a:rPr>
                        <a:t>Trend Interpreter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How much it is used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What it means, where from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Rising or fading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Safe for a brand, and why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Per JAPAC market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Writes copy a person approves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A source behind every claim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6" name="Icon badge target"/>
          <p:cNvSpPr/>
          <p:nvPr/>
        </p:nvSpPr>
        <p:spPr>
          <a:xfrm>
            <a:off x="6231511" y="13534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Icon target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947" y="14129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80160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15199" y="1431462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Campaign drafts per market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863" y="1831969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Product photo + one line → one meme per market picked by rules (fit, tone, lifecycle, risk), then 4 lines, a video script and a thumbnail plan in that market’s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15889" y="1280160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765329" y="1431462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Rule check + human approval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62993" y="1831969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Every line is re-checked: meme used, no profanity, X length, one language, no “like …” intros. Failing lines are rewritten once or dropped; a person approves before copying.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66019" y="1280160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615459" y="1431462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Copy check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3123" y="1831969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Paste your own copy: each meme is marked fine, use with care, fading, not used in this market or don’t use, with an AI opinion on whether it is used as meant.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5760" y="3015691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5199" y="3166993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Evidence-backed meme dictionary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863" y="3567501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Versioned meanings. Auto-listed only with a reference document (Namuwiki, Wikipedia, Know Your Meme…); otherwise a human reviews.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15889" y="3015691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3765329" y="3166993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Brand-risk levels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62993" y="3567501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None · Caution · Avoid · Not enough evidence – rules over classified evidence; avoid-level memes stay off public lists; reviewers can override.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66019" y="3015691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615459" y="3166993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Trends, briefing &amp; world map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13123" y="3567501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Memes in use, fading or needing care per market with 12-week mentions; a one-page market briefing; a map of how one meme differs by country.</a:t>
            </a:r>
          </a:p>
        </p:txBody>
      </p:sp>
      <p:sp>
        <p:nvSpPr>
          <p:cNvPr id="112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Pick, write, check, approve – with a dictionary entry behind every word</a:t>
            </a:r>
          </a:p>
        </p:txBody>
      </p:sp>
      <p:sp>
        <p:nvSpPr>
          <p:cNvPr id="113" name="Icon badge megaphone"/>
          <p:cNvSpPr/>
          <p:nvPr/>
        </p:nvSpPr>
        <p:spPr>
          <a:xfrm>
            <a:off x="512863" y="1367295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Icon megaphone" descr="mega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299" y="1426731"/>
            <a:ext cx="192024" cy="192024"/>
          </a:xfrm>
          <a:prstGeom prst="rect">
            <a:avLst/>
          </a:prstGeom>
        </p:spPr>
      </p:pic>
      <p:sp>
        <p:nvSpPr>
          <p:cNvPr id="115" name="Icon badge rules"/>
          <p:cNvSpPr/>
          <p:nvPr/>
        </p:nvSpPr>
        <p:spPr>
          <a:xfrm>
            <a:off x="3362993" y="1367295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Icon rules" descr="ru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429" y="1426731"/>
            <a:ext cx="192024" cy="192024"/>
          </a:xfrm>
          <a:prstGeom prst="rect">
            <a:avLst/>
          </a:prstGeom>
        </p:spPr>
      </p:pic>
      <p:sp>
        <p:nvSpPr>
          <p:cNvPr id="117" name="Icon badge copycheck"/>
          <p:cNvSpPr/>
          <p:nvPr/>
        </p:nvSpPr>
        <p:spPr>
          <a:xfrm>
            <a:off x="6213123" y="1367295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Icon copycheck" descr="copy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2559" y="1426731"/>
            <a:ext cx="192024" cy="192024"/>
          </a:xfrm>
          <a:prstGeom prst="rect">
            <a:avLst/>
          </a:prstGeom>
        </p:spPr>
      </p:pic>
      <p:sp>
        <p:nvSpPr>
          <p:cNvPr id="119" name="Icon badge book"/>
          <p:cNvSpPr/>
          <p:nvPr/>
        </p:nvSpPr>
        <p:spPr>
          <a:xfrm>
            <a:off x="512863" y="3102826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Icon book" descr="bo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299" y="3162262"/>
            <a:ext cx="192024" cy="192024"/>
          </a:xfrm>
          <a:prstGeom prst="rect">
            <a:avLst/>
          </a:prstGeom>
        </p:spPr>
      </p:pic>
      <p:sp>
        <p:nvSpPr>
          <p:cNvPr id="121" name="Icon badge risk"/>
          <p:cNvSpPr/>
          <p:nvPr/>
        </p:nvSpPr>
        <p:spPr>
          <a:xfrm>
            <a:off x="3362993" y="3102826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Icon risk" descr="ris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2429" y="3162262"/>
            <a:ext cx="192024" cy="192024"/>
          </a:xfrm>
          <a:prstGeom prst="rect">
            <a:avLst/>
          </a:prstGeom>
        </p:spPr>
      </p:pic>
      <p:sp>
        <p:nvSpPr>
          <p:cNvPr id="123" name="Icon badge globe"/>
          <p:cNvSpPr/>
          <p:nvPr/>
        </p:nvSpPr>
        <p:spPr>
          <a:xfrm>
            <a:off x="6213123" y="3102826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Icon globe" descr="glob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2559" y="3162262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280160"/>
            <a:ext cx="5546690" cy="2581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At request time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1602852"/>
            <a:ext cx="2588455" cy="184395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34496" y="1713489"/>
            <a:ext cx="1908784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1  Pick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2160" y="1999302"/>
            <a:ext cx="2311120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Product photo + one line, markets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2160" y="2312775"/>
            <a:ext cx="2311120" cy="11063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photo/line → product brief.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score verified memes by fit, tone, lifecycle, risk → one per market, with left-outs.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91193" y="2524830"/>
            <a:ext cx="24960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77772" y="1602852"/>
            <a:ext cx="2588455" cy="184395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3846509" y="1713489"/>
            <a:ext cx="1908784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2  Write &amp; check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44173" y="1999302"/>
            <a:ext cx="2311120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market, in its language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44173" y="2312775"/>
            <a:ext cx="2311120" cy="11063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one structured call → 4 lines, video script, thumbnail plan.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re-check each line; one rewrite, failing line dropped; AI opinion on meaning.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903205" y="2524830"/>
            <a:ext cx="24960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189784" y="1602852"/>
            <a:ext cx="2588455" cy="184395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758521" y="1713489"/>
            <a:ext cx="1908784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448E0"/>
                </a:solidFill>
                <a:latin typeface="Google Sans Flex"/>
              </a:rPr>
              <a:t>3  Approve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56185" y="1999302"/>
            <a:ext cx="2311120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 person decides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56185" y="2312775"/>
            <a:ext cx="2311120" cy="11063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Nothing can be copied until a reviewer approves.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The approval is recorded with the reviewer’s name; every meme links to its evidence.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3631204"/>
            <a:ext cx="6471138" cy="2581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Before requests – batch pipeline on the collection server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65760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365760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Collect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19631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1586031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1586031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Classify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639902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806303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806303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Research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(Gemini + Search)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3860173" y="4285808"/>
            <a:ext cx="147912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4026575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4026575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080446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5246847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5246847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Lifecycle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300718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6467119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467119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 + rules)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520990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87390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87390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Publish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Every recommendation and generated item carries its sources and observation time. Human reviewers can override meanings and risk levels; automated runs never overwrite a human decision.</a:t>
            </a:r>
          </a:p>
        </p:txBody>
      </p:sp>
      <p:sp>
        <p:nvSpPr>
          <p:cNvPr id="133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Rules pick and check, Gemini writes, a person approves</a:t>
            </a:r>
          </a:p>
        </p:txBody>
      </p:sp>
      <p:sp>
        <p:nvSpPr>
          <p:cNvPr id="134" name="Icon badge rules"/>
          <p:cNvSpPr/>
          <p:nvPr/>
        </p:nvSpPr>
        <p:spPr>
          <a:xfrm>
            <a:off x="532160" y="1657259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Icon rules" descr="ru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96" y="1716695"/>
            <a:ext cx="192024" cy="192024"/>
          </a:xfrm>
          <a:prstGeom prst="rect">
            <a:avLst/>
          </a:prstGeom>
        </p:spPr>
      </p:pic>
      <p:sp>
        <p:nvSpPr>
          <p:cNvPr id="136" name="Icon badge sparkles"/>
          <p:cNvSpPr/>
          <p:nvPr/>
        </p:nvSpPr>
        <p:spPr>
          <a:xfrm>
            <a:off x="3444173" y="1657259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Icon sparkles" descr="spark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09" y="1716695"/>
            <a:ext cx="192024" cy="192024"/>
          </a:xfrm>
          <a:prstGeom prst="rect">
            <a:avLst/>
          </a:prstGeom>
        </p:spPr>
      </p:pic>
      <p:sp>
        <p:nvSpPr>
          <p:cNvPr id="138" name="Icon badge approve"/>
          <p:cNvSpPr/>
          <p:nvPr/>
        </p:nvSpPr>
        <p:spPr>
          <a:xfrm>
            <a:off x="6356185" y="1657259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Icon approve" descr="appro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621" y="1716695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Heavy work runs in the batch; Cloud Run serves only verified data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65760" y="1280160"/>
            <a:ext cx="1463040" cy="3337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93776" y="1380744"/>
            <a:ext cx="1207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566074"/>
                </a:solidFill>
                <a:latin typeface="Google Sans Flex"/>
              </a:rPr>
              <a:t>PUBLIC SIGNALS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011680" y="1280160"/>
            <a:ext cx="2377440" cy="3337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139696" y="1380744"/>
            <a:ext cx="21214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566074"/>
                </a:solidFill>
                <a:latin typeface="Google Sans Flex"/>
              </a:rPr>
              <a:t>COLLECTION SERVER · BATCH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572000" y="1280160"/>
            <a:ext cx="4206240" cy="3337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700016" y="1380744"/>
            <a:ext cx="395020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566074"/>
                </a:solidFill>
                <a:latin typeface="Google Sans Flex"/>
              </a:rPr>
              <a:t>GOOGLE CLOUD · SERVING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75488" y="16276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48640" y="16276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YouTube Data API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75488" y="20848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48640" y="20848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75488" y="25420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25420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Google News RSS · GDELT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75488" y="29992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48640" y="29992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75488" y="34564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8640" y="34564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Wikipedia · Namuwiki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75488" y="39136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48640" y="39136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2121408" y="1627632"/>
            <a:ext cx="2157984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3703" y="1709928"/>
            <a:ext cx="155448" cy="15544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2404872" y="1700784"/>
            <a:ext cx="1810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Pipeline + ADK agent team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203703" y="1911095"/>
            <a:ext cx="2011679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collect → classify → research → verify → track → risk → fit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121408" y="2432304"/>
            <a:ext cx="1033271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3" name="Picture 18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3703" y="2514600"/>
            <a:ext cx="155448" cy="155448"/>
          </a:xfrm>
          <a:prstGeom prst="rect">
            <a:avLst/>
          </a:prstGeom>
        </p:spPr>
      </p:pic>
      <p:sp>
        <p:nvSpPr>
          <p:cNvPr id="184" name="TextBox 183"/>
          <p:cNvSpPr txBox="1"/>
          <p:nvPr/>
        </p:nvSpPr>
        <p:spPr>
          <a:xfrm>
            <a:off x="2404872" y="2505456"/>
            <a:ext cx="6857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Gemma 4 12B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203703" y="2715768"/>
            <a:ext cx="886967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classify · translate · label risk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3246120" y="2432304"/>
            <a:ext cx="1033271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8415" y="2514600"/>
            <a:ext cx="155448" cy="15544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3529584" y="2505456"/>
            <a:ext cx="6857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Gemini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328415" y="2715768"/>
            <a:ext cx="886967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Shorts · grounded research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2121408" y="3236976"/>
            <a:ext cx="1033271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1" name="Picture 19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3703" y="3319272"/>
            <a:ext cx="155448" cy="155448"/>
          </a:xfrm>
          <a:prstGeom prst="rect">
            <a:avLst/>
          </a:prstGeom>
        </p:spPr>
      </p:pic>
      <p:sp>
        <p:nvSpPr>
          <p:cNvPr id="192" name="TextBox 191"/>
          <p:cNvSpPr txBox="1"/>
          <p:nvPr/>
        </p:nvSpPr>
        <p:spPr>
          <a:xfrm>
            <a:off x="2404872" y="3310128"/>
            <a:ext cx="6857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Rules (code)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03703" y="3520440"/>
            <a:ext cx="886967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reference-doc gate · lifecycle · risk level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3246120" y="3236976"/>
            <a:ext cx="1033271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5" name="Picture 19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8415" y="3319272"/>
            <a:ext cx="155448" cy="155448"/>
          </a:xfrm>
          <a:prstGeom prst="rect">
            <a:avLst/>
          </a:prstGeom>
        </p:spPr>
      </p:pic>
      <p:sp>
        <p:nvSpPr>
          <p:cNvPr id="196" name="TextBox 195"/>
          <p:cNvSpPr txBox="1"/>
          <p:nvPr/>
        </p:nvSpPr>
        <p:spPr>
          <a:xfrm>
            <a:off x="3529584" y="3310128"/>
            <a:ext cx="6857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PostgreSQL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328415" y="3520440"/>
            <a:ext cx="886967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drafts · evidence · review queue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2121408" y="4096511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566074"/>
                </a:solidFill>
                <a:latin typeface="Google Sans Flex"/>
              </a:rPr>
              <a:t>Only verified, reviewed entries leave the server.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4681728" y="1627632"/>
            <a:ext cx="89611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4024" y="1709928"/>
            <a:ext cx="155448" cy="155448"/>
          </a:xfrm>
          <a:prstGeom prst="rect">
            <a:avLst/>
          </a:prstGeom>
        </p:spPr>
      </p:pic>
      <p:sp>
        <p:nvSpPr>
          <p:cNvPr id="201" name="TextBox 200"/>
          <p:cNvSpPr txBox="1"/>
          <p:nvPr/>
        </p:nvSpPr>
        <p:spPr>
          <a:xfrm>
            <a:off x="4965192" y="170078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Marketer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764024" y="1911095"/>
            <a:ext cx="74980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browser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5687568" y="1627632"/>
            <a:ext cx="98755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4" name="Picture 20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9864" y="1709928"/>
            <a:ext cx="155448" cy="155448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5971031" y="1700784"/>
            <a:ext cx="640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Cloud Run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769864" y="1911095"/>
            <a:ext cx="84124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Web · Next.js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6784848" y="1627632"/>
            <a:ext cx="94183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" name="Picture 20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67144" y="1709928"/>
            <a:ext cx="155448" cy="155448"/>
          </a:xfrm>
          <a:prstGeom prst="rect">
            <a:avLst/>
          </a:prstGeom>
        </p:spPr>
      </p:pic>
      <p:sp>
        <p:nvSpPr>
          <p:cNvPr id="209" name="TextBox 208"/>
          <p:cNvSpPr txBox="1"/>
          <p:nvPr/>
        </p:nvSpPr>
        <p:spPr>
          <a:xfrm>
            <a:off x="7068312" y="1700784"/>
            <a:ext cx="594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Cloud Run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867144" y="1911095"/>
            <a:ext cx="79552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API · FastAPI, private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7836408" y="1627632"/>
            <a:ext cx="832104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8704" y="1709928"/>
            <a:ext cx="155448" cy="155448"/>
          </a:xfrm>
          <a:prstGeom prst="rect">
            <a:avLst/>
          </a:prstGeom>
        </p:spPr>
      </p:pic>
      <p:sp>
        <p:nvSpPr>
          <p:cNvPr id="213" name="TextBox 212"/>
          <p:cNvSpPr txBox="1"/>
          <p:nvPr/>
        </p:nvSpPr>
        <p:spPr>
          <a:xfrm>
            <a:off x="8119872" y="1700784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Vertex AI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7918704" y="1911095"/>
            <a:ext cx="68580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Gemini: brief · copy · opinion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4681728" y="2432304"/>
            <a:ext cx="89611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" name="Picture 21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64024" y="2514600"/>
            <a:ext cx="155448" cy="155448"/>
          </a:xfrm>
          <a:prstGeom prst="rect">
            <a:avLst/>
          </a:prstGeom>
        </p:spPr>
      </p:pic>
      <p:sp>
        <p:nvSpPr>
          <p:cNvPr id="217" name="TextBox 216"/>
          <p:cNvSpPr txBox="1"/>
          <p:nvPr/>
        </p:nvSpPr>
        <p:spPr>
          <a:xfrm>
            <a:off x="4965192" y="250545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2448E0"/>
                </a:solidFill>
                <a:latin typeface="Google Sans Flex"/>
              </a:rPr>
              <a:t>Reviewer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764024" y="2715768"/>
            <a:ext cx="74980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approves drafts and batches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6784848" y="2432304"/>
            <a:ext cx="94183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144" y="2514600"/>
            <a:ext cx="155448" cy="155448"/>
          </a:xfrm>
          <a:prstGeom prst="rect">
            <a:avLst/>
          </a:prstGeom>
        </p:spPr>
      </p:pic>
      <p:sp>
        <p:nvSpPr>
          <p:cNvPr id="221" name="TextBox 220"/>
          <p:cNvSpPr txBox="1"/>
          <p:nvPr/>
        </p:nvSpPr>
        <p:spPr>
          <a:xfrm>
            <a:off x="7068312" y="2505456"/>
            <a:ext cx="594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Cloud SQL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867144" y="2715768"/>
            <a:ext cx="79552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PostgreSQL · published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7836408" y="2432304"/>
            <a:ext cx="832104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18704" y="2514600"/>
            <a:ext cx="155448" cy="155448"/>
          </a:xfrm>
          <a:prstGeom prst="rect">
            <a:avLst/>
          </a:prstGeom>
        </p:spPr>
      </p:pic>
      <p:sp>
        <p:nvSpPr>
          <p:cNvPr id="225" name="TextBox 224"/>
          <p:cNvSpPr txBox="1"/>
          <p:nvPr/>
        </p:nvSpPr>
        <p:spPr>
          <a:xfrm>
            <a:off x="8119872" y="2505456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GPU VM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7918704" y="2715768"/>
            <a:ext cx="68580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L4 · Gemma, on demand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4681728" y="3236976"/>
            <a:ext cx="89611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8" name="Picture 22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64024" y="3319272"/>
            <a:ext cx="155448" cy="155448"/>
          </a:xfrm>
          <a:prstGeom prst="rect">
            <a:avLst/>
          </a:prstGeom>
        </p:spPr>
      </p:pic>
      <p:sp>
        <p:nvSpPr>
          <p:cNvPr id="229" name="TextBox 228"/>
          <p:cNvSpPr txBox="1"/>
          <p:nvPr/>
        </p:nvSpPr>
        <p:spPr>
          <a:xfrm>
            <a:off x="4965192" y="3310128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Storage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64024" y="3520440"/>
            <a:ext cx="74980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Cloud Storage snapshots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5687568" y="3236976"/>
            <a:ext cx="98755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2" name="Picture 2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9864" y="3319272"/>
            <a:ext cx="155448" cy="155448"/>
          </a:xfrm>
          <a:prstGeom prst="rect">
            <a:avLst/>
          </a:prstGeom>
        </p:spPr>
      </p:pic>
      <p:sp>
        <p:nvSpPr>
          <p:cNvPr id="233" name="TextBox 232"/>
          <p:cNvSpPr txBox="1"/>
          <p:nvPr/>
        </p:nvSpPr>
        <p:spPr>
          <a:xfrm>
            <a:off x="5971031" y="3310128"/>
            <a:ext cx="640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Jobs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769864" y="3520440"/>
            <a:ext cx="84124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Cloud Run Jobs: publish · backup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784848" y="3236976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6" name="Picture 235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67144" y="3319272"/>
            <a:ext cx="155448" cy="155448"/>
          </a:xfrm>
          <a:prstGeom prst="rect">
            <a:avLst/>
          </a:prstGeom>
        </p:spPr>
      </p:pic>
      <p:sp>
        <p:nvSpPr>
          <p:cNvPr id="237" name="TextBox 236"/>
          <p:cNvSpPr txBox="1"/>
          <p:nvPr/>
        </p:nvSpPr>
        <p:spPr>
          <a:xfrm>
            <a:off x="7068312" y="3310128"/>
            <a:ext cx="15361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Ops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6867144" y="3520440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Secret Manager · Artifact Registry · Monitoring → Pub/Sub → alert relay · Terraform · GitHub Actions (WIF)</a:t>
            </a:r>
          </a:p>
        </p:txBody>
      </p:sp>
      <p:cxnSp>
        <p:nvCxnSpPr>
          <p:cNvPr id="239" name="Connector 238"/>
          <p:cNvCxnSpPr/>
          <p:nvPr/>
        </p:nvCxnSpPr>
        <p:spPr>
          <a:xfrm>
            <a:off x="1719072" y="1911095"/>
            <a:ext cx="402336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2638044" y="2194560"/>
            <a:ext cx="0" cy="237744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3762756" y="2194560"/>
            <a:ext cx="0" cy="237744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2638044" y="2999232"/>
            <a:ext cx="0" cy="237744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3154680" y="3520440"/>
            <a:ext cx="91440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4279392" y="3520440"/>
            <a:ext cx="402336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5577840" y="3520440"/>
            <a:ext cx="109728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6675120" y="2889504"/>
            <a:ext cx="109728" cy="45720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5577840" y="1911095"/>
            <a:ext cx="109728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6675120" y="1911095"/>
            <a:ext cx="109728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7726679" y="1911095"/>
            <a:ext cx="109729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7255764" y="2194560"/>
            <a:ext cx="0" cy="237744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7726679" y="2103120"/>
            <a:ext cx="219457" cy="329184"/>
          </a:xfrm>
          <a:prstGeom prst="line">
            <a:avLst/>
          </a:prstGeom>
          <a:ln w="13970">
            <a:solidFill>
              <a:srgbClr val="7D879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5577840" y="2194560"/>
            <a:ext cx="292608" cy="420624"/>
          </a:xfrm>
          <a:prstGeom prst="line">
            <a:avLst/>
          </a:prstGeom>
          <a:ln w="13970">
            <a:solidFill>
              <a:srgbClr val="2448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Rounded Rectangle 252"/>
          <p:cNvSpPr/>
          <p:nvPr/>
        </p:nvSpPr>
        <p:spPr>
          <a:xfrm>
            <a:off x="4681728" y="4151376"/>
            <a:ext cx="274320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010912" y="4151376"/>
            <a:ext cx="7772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566074"/>
                </a:solidFill>
                <a:latin typeface="Google Sans Flex"/>
              </a:rPr>
              <a:t>code and rules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5824728" y="4151376"/>
            <a:ext cx="274320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153912" y="4151376"/>
            <a:ext cx="6400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566074"/>
                </a:solidFill>
                <a:latin typeface="Google Sans Flex"/>
              </a:rPr>
              <a:t>model</a:t>
            </a:r>
          </a:p>
        </p:txBody>
      </p:sp>
      <p:pic>
        <p:nvPicPr>
          <p:cNvPr id="257" name="Picture 25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0256" y="4142232"/>
            <a:ext cx="182880" cy="182880"/>
          </a:xfrm>
          <a:prstGeom prst="rect">
            <a:avLst/>
          </a:prstGeom>
        </p:spPr>
      </p:pic>
      <p:sp>
        <p:nvSpPr>
          <p:cNvPr id="258" name="TextBox 257"/>
          <p:cNvSpPr txBox="1"/>
          <p:nvPr/>
        </p:nvSpPr>
        <p:spPr>
          <a:xfrm>
            <a:off x="6858000" y="4151376"/>
            <a:ext cx="8229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566074"/>
                </a:solidFill>
                <a:latin typeface="Google Sans Flex"/>
              </a:rPr>
              <a:t>person approves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80160"/>
            <a:ext cx="1999913" cy="3337559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905704" y="1399714"/>
            <a:ext cx="1386577" cy="3586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Generative 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3368" y="1897857"/>
            <a:ext cx="1761391" cy="26899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Gemini 3.8 Flash on Vertex AI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video interpretation, Search grounding, photo understanding, content generation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Gemma 4 12B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(local, Kaggle, on-demand L4 VM) – classification, translation, evidence labeling, live re-checks for reviewers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Google ADK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pipeline agent team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503282" y="1280160"/>
            <a:ext cx="1999913" cy="3337559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043226" y="1399714"/>
            <a:ext cx="1386577" cy="3586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40890" y="1897857"/>
            <a:ext cx="1761391" cy="26899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Run (web, API, alert relay)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SQL for PostgreSQL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Vertex AI · Compute Engine L4 GPU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Secret Manager · Artifact Registry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Pub/Sub · Cloud Monitoring &amp; Logging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Workload Identity Federation · Terraform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40804" y="1280160"/>
            <a:ext cx="1999913" cy="3337559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5180749" y="1399714"/>
            <a:ext cx="1386577" cy="3586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Application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78413" y="1897857"/>
            <a:ext cx="1761391" cy="26899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Next.js 16 · React 19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FastAPI · Python 3.12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PostgreSQL, numbered migrations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Docker Compose dev stack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Pytest · Playwright e2e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GitHub Actions CI / release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78326" y="1280160"/>
            <a:ext cx="1999913" cy="3337559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7318271" y="1399714"/>
            <a:ext cx="1386577" cy="3586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Data sources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15935" y="1897857"/>
            <a:ext cx="1761391" cy="26899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YouTube Data API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News RSS · GDELT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Wikipedia · Wiktionary · Namuwiki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Firebase / Firestore are not used: the dictionary is relational and versioned (meanings, evidence, reviews), so it lives in Cloud SQL for PostgreSQL.</a:t>
            </a:r>
          </a:p>
        </p:txBody>
      </p:sp>
      <p:sp>
        <p:nvSpPr>
          <p:cNvPr id="137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Gemini on Vertex AI writes, Gemma does batch work, plain code decides</a:t>
            </a:r>
          </a:p>
        </p:txBody>
      </p:sp>
      <p:sp>
        <p:nvSpPr>
          <p:cNvPr id="138" name="Icon badge sparkles"/>
          <p:cNvSpPr/>
          <p:nvPr/>
        </p:nvSpPr>
        <p:spPr>
          <a:xfrm>
            <a:off x="503368" y="1335547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Icon sparkles" descr="spark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804" y="1394983"/>
            <a:ext cx="192024" cy="192024"/>
          </a:xfrm>
          <a:prstGeom prst="rect">
            <a:avLst/>
          </a:prstGeom>
        </p:spPr>
      </p:pic>
      <p:sp>
        <p:nvSpPr>
          <p:cNvPr id="140" name="Icon badge cloud"/>
          <p:cNvSpPr/>
          <p:nvPr/>
        </p:nvSpPr>
        <p:spPr>
          <a:xfrm>
            <a:off x="2640890" y="1335547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Icon cloud" descr="clou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0326" y="1394983"/>
            <a:ext cx="192024" cy="192024"/>
          </a:xfrm>
          <a:prstGeom prst="rect">
            <a:avLst/>
          </a:prstGeom>
        </p:spPr>
      </p:pic>
      <p:sp>
        <p:nvSpPr>
          <p:cNvPr id="142" name="Icon badge app"/>
          <p:cNvSpPr/>
          <p:nvPr/>
        </p:nvSpPr>
        <p:spPr>
          <a:xfrm>
            <a:off x="4778413" y="1335547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Icon app" descr="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7849" y="1394983"/>
            <a:ext cx="192024" cy="192024"/>
          </a:xfrm>
          <a:prstGeom prst="rect">
            <a:avLst/>
          </a:prstGeom>
        </p:spPr>
      </p:pic>
      <p:sp>
        <p:nvSpPr>
          <p:cNvPr id="144" name="Icon badge database"/>
          <p:cNvSpPr/>
          <p:nvPr/>
        </p:nvSpPr>
        <p:spPr>
          <a:xfrm>
            <a:off x="6915935" y="1335547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Icon database" descr="datab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5371" y="1394983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80160"/>
            <a:ext cx="2697480" cy="122437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548640" y="1352715"/>
            <a:ext cx="2377440" cy="6348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$0.0015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8640" y="1987577"/>
            <a:ext cx="2377440" cy="45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request-time Gemini call*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0400" y="1280160"/>
            <a:ext cx="2697480" cy="122437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383280" y="1352715"/>
            <a:ext cx="2377440" cy="6348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≈ $15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83280" y="1987577"/>
            <a:ext cx="2377440" cy="45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10,000 Gemini calls*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35040" y="1280160"/>
            <a:ext cx="2697480" cy="122437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17920" y="1352715"/>
            <a:ext cx="2377440" cy="6348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1987577"/>
            <a:ext cx="2377440" cy="45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always-on GPU – Gemma runs in the batch; an L4 VM starts only for reviewer demos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8096" y="2685925"/>
            <a:ext cx="3712464" cy="2539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Cost guards built 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985217"/>
            <a:ext cx="4114800" cy="16325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daily call cap recorded in the database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Per-instance request limit (20 / min) on recommend &amp; create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Cloud Run scales to zero; monthly Cloud Run spend limit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One Gemini call per request step; heavy work is batched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65776" y="2685925"/>
            <a:ext cx="3712464" cy="2539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Design choice that avoided the biggest cost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663440" y="2985217"/>
            <a:ext cx="4114800" cy="113368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828032" y="3057773"/>
            <a:ext cx="3794760" cy="10157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121826"/>
                </a:solidFill>
                <a:latin typeface="Google Sans Flex"/>
              </a:rPr>
              <a:t>Always-on Cloud Run L4 GPU for Gemma: </a:t>
            </a:r>
            <a:r>
              <a:rPr sz="1000" b="0" i="0">
                <a:solidFill>
                  <a:srgbClr val="121826"/>
                </a:solidFill>
                <a:latin typeface="Google Sans Flex"/>
              </a:rPr>
              <a:t>≈ $753 / month (720 h, Tier-1 list price, excluding free tier).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We run Gemma 4 in the batch pipeline and on an L4 VM that is started only when needed, and keep request-time AI on Gemini, so serving cost follows usage.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*List-price estimate for gemini-3.8-flash (Vertex AI global standard, through 2026-12-31), 1,000 input + 200 output tokens; excludes thinking tokens, grounding, caching and taxes. Cloud SQL runs on a free trial instance until about 2026-10-30; a paid tier is set up before then.</a:t>
            </a:r>
          </a:p>
        </p:txBody>
      </p:sp>
      <p:sp>
        <p:nvSpPr>
          <p:cNvPr id="143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About $0.0015 per Gemini call, and no GPU running when nobody needs it</a:t>
            </a:r>
          </a:p>
        </p:txBody>
      </p:sp>
      <p:sp>
        <p:nvSpPr>
          <p:cNvPr id="144" name="Icon badge shield"/>
          <p:cNvSpPr/>
          <p:nvPr/>
        </p:nvSpPr>
        <p:spPr>
          <a:xfrm>
            <a:off x="365760" y="2621758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Icon shield" descr="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" y="2681194"/>
            <a:ext cx="192024" cy="192024"/>
          </a:xfrm>
          <a:prstGeom prst="rect">
            <a:avLst/>
          </a:prstGeom>
        </p:spPr>
      </p:pic>
      <p:sp>
        <p:nvSpPr>
          <p:cNvPr id="146" name="Icon badge bulb"/>
          <p:cNvSpPr/>
          <p:nvPr/>
        </p:nvSpPr>
        <p:spPr>
          <a:xfrm>
            <a:off x="4663440" y="2621758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Icon bulb" descr="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2876" y="2681194"/>
            <a:ext cx="192024" cy="192024"/>
          </a:xfrm>
          <a:prstGeom prst="rect">
            <a:avLst/>
          </a:prstGeom>
        </p:spPr>
      </p:pic>
      <p:sp>
        <p:nvSpPr>
          <p:cNvPr id="148" name="Icon badge coins"/>
          <p:cNvSpPr/>
          <p:nvPr/>
        </p:nvSpPr>
        <p:spPr>
          <a:xfrm>
            <a:off x="2606040" y="14264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Icon coin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5476" y="1485900"/>
            <a:ext cx="192024" cy="192024"/>
          </a:xfrm>
          <a:prstGeom prst="rect">
            <a:avLst/>
          </a:prstGeom>
        </p:spPr>
      </p:pic>
      <p:sp>
        <p:nvSpPr>
          <p:cNvPr id="150" name="Icon badge receipt"/>
          <p:cNvSpPr/>
          <p:nvPr/>
        </p:nvSpPr>
        <p:spPr>
          <a:xfrm>
            <a:off x="5440680" y="14264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Icon receip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0116" y="1485900"/>
            <a:ext cx="192024" cy="192024"/>
          </a:xfrm>
          <a:prstGeom prst="rect">
            <a:avLst/>
          </a:prstGeom>
        </p:spPr>
      </p:pic>
      <p:sp>
        <p:nvSpPr>
          <p:cNvPr id="152" name="Icon badge cpu"/>
          <p:cNvSpPr/>
          <p:nvPr/>
        </p:nvSpPr>
        <p:spPr>
          <a:xfrm>
            <a:off x="8275320" y="14264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Icon cpu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4756" y="14859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365760" y="2656473"/>
            <a:ext cx="4137285" cy="2580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Create – one product, a meme picked per market (/)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40954" y="2656473"/>
            <a:ext cx="4137285" cy="2580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Explore – English markets: in use, fading or needing care (/trends)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4359661"/>
            <a:ext cx="4137285" cy="2580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Dictionary entry – can I use it, meaning and sources (“cooked”)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40954" y="4359661"/>
            <a:ext cx="4137285" cy="2580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World map – memes per market and across borders (/map)</a:t>
            </a:r>
          </a:p>
        </p:txBody>
      </p:sp>
      <p:pic>
        <p:nvPicPr>
          <p:cNvPr id="148" name="Picture 147" descr="crop-cre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961" y="1280160"/>
            <a:ext cx="3870881" cy="1333303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3" name="Picture 152" descr="crop-explore-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4156" y="1280160"/>
            <a:ext cx="3870881" cy="1333303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4" name="Picture 153" descr="crop-entry-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961" y="2983347"/>
            <a:ext cx="3870881" cy="1333303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1" name="Picture 150" descr="crop-ma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4156" y="2983347"/>
            <a:ext cx="3870881" cy="1333303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sp>
        <p:nvSpPr>
          <p:cNvPr id="152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The deployed app in English: memes stay in their own script, explanations in English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80160"/>
            <a:ext cx="1993392" cy="130796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502920" y="1343303"/>
            <a:ext cx="1783080" cy="541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40% → 91%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1884528"/>
            <a:ext cx="1783080" cy="6765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Picks that fit the product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same 12 cases, round 4 → 9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496312" y="1280160"/>
            <a:ext cx="1993392" cy="130796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2633472" y="1343303"/>
            <a:ext cx="1783080" cy="541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33472" y="1884528"/>
            <a:ext cx="1783080" cy="6765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Risky picks shown as “no issue”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round 9 · was 2 in round 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26864" y="1280160"/>
            <a:ext cx="1993392" cy="130796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764024" y="1343303"/>
            <a:ext cx="1783080" cy="541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6.6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884528"/>
            <a:ext cx="1783080" cy="6765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Recommend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14.1 s · Gemini on Vertex AI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757416" y="1280160"/>
            <a:ext cx="1993392" cy="130796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6894576" y="1343303"/>
            <a:ext cx="1783080" cy="541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16.3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94576" y="1884528"/>
            <a:ext cx="1783080" cy="6765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Create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27.9 s · one structured call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8096" y="2750490"/>
            <a:ext cx="3712464" cy="2525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Picks that fit the product, by round (same 12 cases)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065776" y="2750490"/>
            <a:ext cx="3712464" cy="2525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Method and limits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3440" y="3039144"/>
            <a:ext cx="4114800" cy="15334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12 cases = Korea, Japan, English × cosmetics, drink, running shoes, budgeting app; 4 get no pick (mostly Japan).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 on a read-only copy of production data, 2026-10-09–10; judgments are AI drafts reviewed by one person.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Between rounds: no “like …” intros (R5), meme type filter (R6), usage words fixed by people (R7), new data (R8), human risk calls (R9).</a:t>
            </a:r>
          </a:p>
        </p:txBody>
      </p:sp>
      <p:graphicFrame>
        <p:nvGraphicFramePr>
          <p:cNvPr id="160" name="Chart 159"/>
          <p:cNvGraphicFramePr>
            <a:graphicFrameLocks noGrp="1"/>
          </p:cNvGraphicFramePr>
          <p:nvPr/>
        </p:nvGraphicFramePr>
        <p:xfrm>
          <a:off x="365760" y="3039144"/>
          <a:ext cx="4114800" cy="15785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61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Picks that fit the product rose from 40% to 91% on the same 12 cases</a:t>
            </a:r>
          </a:p>
        </p:txBody>
      </p:sp>
      <p:sp>
        <p:nvSpPr>
          <p:cNvPr id="162" name="Icon badge chart"/>
          <p:cNvSpPr/>
          <p:nvPr/>
        </p:nvSpPr>
        <p:spPr>
          <a:xfrm>
            <a:off x="365760" y="2686323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Icon chart" descr="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" y="2745759"/>
            <a:ext cx="192024" cy="192024"/>
          </a:xfrm>
          <a:prstGeom prst="rect">
            <a:avLst/>
          </a:prstGeom>
        </p:spPr>
      </p:pic>
      <p:sp>
        <p:nvSpPr>
          <p:cNvPr id="164" name="Icon badge book"/>
          <p:cNvSpPr/>
          <p:nvPr/>
        </p:nvSpPr>
        <p:spPr>
          <a:xfrm>
            <a:off x="4663440" y="2686323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5" name="Icon book" descr="boo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2876" y="2745759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93358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The copy named a website, not a meme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125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4, English running shoes: the copy put the site name “Know Your Meme” in its body.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Reviewers removed non-meme entries (site names, generic words) from the dictionary.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From round 5 no site name was picked.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88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378371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The copy explained the meme instead of using it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138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4: lines introduced the meme by name (“like …”) and read as meta copy.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A rule now rejects such a line and asks for one rewrite.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Copy usability rose from 2.0 to 2.6 out of 3 in round 5.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663384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New data brought risky picks with no verdict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3151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8: “호갱” (a customer who gets ripped off) and “Meme coin” were offered for budgeting apps with no risk verdict.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36 candidates without a verdict got a human risk decision.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9: no risky pick shown as safe.</a:t>
            </a: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The rules caught what a person would otherwise have had to fix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4754880"/>
            <a:ext cx="84124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>
                <a:solidFill>
                  <a:srgbClr val="566074"/>
                </a:solidFill>
                <a:latin typeface="Google Sans Flex"/>
              </a:rPr>
              <a:t>Same 12 cases each round; judgments are AI drafts reviewed by one person. Details: EVALUATION.md and evals/recommend-rounds.csv in the repository.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4963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1826"/>
                </a:solidFill>
                <a:latin typeface="Google Sans Flex"/>
              </a:rPr>
              <a:t>3 entries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non-memes removed after round 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39976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1826"/>
                </a:solidFill>
                <a:latin typeface="Google Sans Flex"/>
              </a:rPr>
              <a:t>2.0 → 2.6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copy usability, round 4 → 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24989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1826"/>
                </a:solidFill>
                <a:latin typeface="Google Sans Flex"/>
              </a:rPr>
              <a:t>2 → 0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risky picks shown as safe, round 8 → 9</a:t>
            </a:r>
          </a:p>
        </p:txBody>
      </p:sp>
      <p:sp>
        <p:nvSpPr>
          <p:cNvPr id="184" name="Icon badge link"/>
          <p:cNvSpPr/>
          <p:nvPr/>
        </p:nvSpPr>
        <p:spPr>
          <a:xfrm>
            <a:off x="53125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5" name="Icon link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87" y="1395100"/>
            <a:ext cx="192024" cy="192024"/>
          </a:xfrm>
          <a:prstGeom prst="rect">
            <a:avLst/>
          </a:prstGeom>
        </p:spPr>
      </p:pic>
      <p:sp>
        <p:nvSpPr>
          <p:cNvPr id="186" name="Icon badge quote"/>
          <p:cNvSpPr/>
          <p:nvPr/>
        </p:nvSpPr>
        <p:spPr>
          <a:xfrm>
            <a:off x="338138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Icon quote" descr="quo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817" y="1395100"/>
            <a:ext cx="192024" cy="192024"/>
          </a:xfrm>
          <a:prstGeom prst="rect">
            <a:avLst/>
          </a:prstGeom>
        </p:spPr>
      </p:pic>
      <p:sp>
        <p:nvSpPr>
          <p:cNvPr id="188" name="Icon badge alert"/>
          <p:cNvSpPr/>
          <p:nvPr/>
        </p:nvSpPr>
        <p:spPr>
          <a:xfrm>
            <a:off x="623151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" name="Icon alert" descr="ale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0947" y="13951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933587" y="1407772"/>
            <a:ext cx="2024871" cy="37302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Before submission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31251" y="1967304"/>
            <a:ext cx="2408819" cy="26504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Final dictionary refresh, then re-measure the 12 cases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Gemma live re-checks on the L4 VM (code ready, GPU off)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More Japanese candidates: 3 of 4 products get no pick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Human labels for list-filter precision and recall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Cross-check every entry against reference docs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1588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3783717" y="1407772"/>
            <a:ext cx="2024871" cy="37302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Next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81381" y="1967304"/>
            <a:ext cx="2408819" cy="26504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Term relation graph: derived memes link to the original meaning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Model-based nuance check, only if evaluation shows rules miss it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Team review workflow with decision history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6633847" y="1407772"/>
            <a:ext cx="2024871" cy="37302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Later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231511" y="1967304"/>
            <a:ext cx="2408819" cy="26504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Link memes to songs, dances and formats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New regions by changing the region filter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Brand-specific avoid lists and shared workspaces</a:t>
            </a:r>
          </a:p>
        </p:txBody>
      </p:sp>
      <p:sp>
        <p:nvSpPr>
          <p:cNvPr id="166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Next: the final data refresh, more Japanese memes and tests with marketers</a:t>
            </a:r>
          </a:p>
        </p:txBody>
      </p:sp>
      <p:sp>
        <p:nvSpPr>
          <p:cNvPr id="167" name="Icon badge flag"/>
          <p:cNvSpPr/>
          <p:nvPr/>
        </p:nvSpPr>
        <p:spPr>
          <a:xfrm>
            <a:off x="531251" y="134757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Icon flag" descr="fl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87" y="1407010"/>
            <a:ext cx="192024" cy="192024"/>
          </a:xfrm>
          <a:prstGeom prst="rect">
            <a:avLst/>
          </a:prstGeom>
        </p:spPr>
      </p:pic>
      <p:sp>
        <p:nvSpPr>
          <p:cNvPr id="169" name="Icon badge next"/>
          <p:cNvSpPr/>
          <p:nvPr/>
        </p:nvSpPr>
        <p:spPr>
          <a:xfrm>
            <a:off x="3381381" y="134757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0" name="Icon next" descr="n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817" y="1407010"/>
            <a:ext cx="192024" cy="192024"/>
          </a:xfrm>
          <a:prstGeom prst="rect">
            <a:avLst/>
          </a:prstGeom>
        </p:spPr>
      </p:pic>
      <p:sp>
        <p:nvSpPr>
          <p:cNvPr id="171" name="Icon badge telescope"/>
          <p:cNvSpPr/>
          <p:nvPr/>
        </p:nvSpPr>
        <p:spPr>
          <a:xfrm>
            <a:off x="6231511" y="134757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Icon telescope" descr="telescop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0947" y="140701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93358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Who pays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125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Brand marketing teams and their agencies running social campaigns in Korea, Japan and English-language JAPAC markets.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Japan’s social media marketing spend grew 13% in 2024.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Korea’s online advertising reached ₩10.1 trillion in 2024, 59% of all ad spend.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88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378371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What they use today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138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Sprout Social: $199–$399 per seat a month; listening is a paid add-on.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They count mentions and sentiment; none says whether a meme is safe to use or writes local copy a person approves.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Teams fill the gap with community searches and agency checks.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663384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What it costs us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3151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One 3-market draft takes about 7 Gemini calls: a product brief, then copy and an AI opinion per market.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Proposed: a per-seat subscription for brand teams and a workspace per client for agencies.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Not yet tested with paying users.</a:t>
            </a: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Brand teams already pay for social tools; none answers this question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4963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21826"/>
                </a:solidFill>
                <a:latin typeface="Google Sans Flex"/>
              </a:rPr>
              <a:t>¥1.2 trillion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Japan social media marketing, 2024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9976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21826"/>
                </a:solidFill>
                <a:latin typeface="Google Sans Flex"/>
              </a:rPr>
              <a:t>$50,000 / year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median Brandwatch contract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24989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21826"/>
                </a:solidFill>
                <a:latin typeface="Google Sans Flex"/>
              </a:rPr>
              <a:t>≈ $0.01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Gemini cost of one 3-market draft, list price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65760" y="4754880"/>
            <a:ext cx="84124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>
                <a:solidFill>
                  <a:srgbClr val="566074"/>
                </a:solidFill>
                <a:latin typeface="Google Sans Flex"/>
              </a:rPr>
              <a:t>Sources 11–15 on the Sources slide. Cost per draft is our estimate from list prices; the pricing model is a proposal.</a:t>
            </a:r>
          </a:p>
        </p:txBody>
      </p:sp>
      <p:sp>
        <p:nvSpPr>
          <p:cNvPr id="184" name="Icon badge users"/>
          <p:cNvSpPr/>
          <p:nvPr/>
        </p:nvSpPr>
        <p:spPr>
          <a:xfrm>
            <a:off x="53125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5" name="Icon users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87" y="1395100"/>
            <a:ext cx="192024" cy="192024"/>
          </a:xfrm>
          <a:prstGeom prst="rect">
            <a:avLst/>
          </a:prstGeom>
        </p:spPr>
      </p:pic>
      <p:sp>
        <p:nvSpPr>
          <p:cNvPr id="186" name="Icon badge tools"/>
          <p:cNvSpPr/>
          <p:nvPr/>
        </p:nvSpPr>
        <p:spPr>
          <a:xfrm>
            <a:off x="338138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Icon tools" descr="too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817" y="1395100"/>
            <a:ext cx="192024" cy="192024"/>
          </a:xfrm>
          <a:prstGeom prst="rect">
            <a:avLst/>
          </a:prstGeom>
        </p:spPr>
      </p:pic>
      <p:sp>
        <p:nvSpPr>
          <p:cNvPr id="188" name="Icon badge calc"/>
          <p:cNvSpPr/>
          <p:nvPr/>
        </p:nvSpPr>
        <p:spPr>
          <a:xfrm>
            <a:off x="623151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" name="Icon calc" descr="cal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0947" y="13951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Impact, feasibility and scalability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93358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Impact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125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check lifespan and risk before a meme goes into a public campaign.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go from a product photo to approved local copy in one flow.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Audiences across JAPAC see memes used with the meaning they know.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566074"/>
                </a:solidFill>
                <a:latin typeface="Google Sans Flex"/>
              </a:rPr>
              <a:t>Expected benefits – not yet measured with users.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88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378371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Feasibility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138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Deployed on Cloud Run with Cloud SQL; 8 of 12 evaluation cases run end to end with Gemini.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Verdicts and reasons are rule code; models draft meanings and write copy.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510 API tests, 46 browser e2e tests and Terraform validation pass.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Built-in cost caps keep the service open through judging.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663384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Scalability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3151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Collect globally, serve per market: a new region is a filter change plus data.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Heavy AI work is batched once and reused by every user.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Stateless Cloud Run services scale to zero and back out.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The same evidence dictionary can feed other content tools via the API.</a:t>
            </a: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Deployed today; a new market needs data, not new code</a:t>
            </a:r>
          </a:p>
        </p:txBody>
      </p:sp>
      <p:sp>
        <p:nvSpPr>
          <p:cNvPr id="180" name="Icon badge trend"/>
          <p:cNvSpPr/>
          <p:nvPr/>
        </p:nvSpPr>
        <p:spPr>
          <a:xfrm>
            <a:off x="53125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1" name="Icon trend" descr="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87" y="1395100"/>
            <a:ext cx="192024" cy="192024"/>
          </a:xfrm>
          <a:prstGeom prst="rect">
            <a:avLst/>
          </a:prstGeom>
        </p:spPr>
      </p:pic>
      <p:sp>
        <p:nvSpPr>
          <p:cNvPr id="182" name="Icon badge done"/>
          <p:cNvSpPr/>
          <p:nvPr/>
        </p:nvSpPr>
        <p:spPr>
          <a:xfrm>
            <a:off x="338138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3" name="Icon done" descr="do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817" y="1395100"/>
            <a:ext cx="192024" cy="192024"/>
          </a:xfrm>
          <a:prstGeom prst="rect">
            <a:avLst/>
          </a:prstGeom>
        </p:spPr>
      </p:pic>
      <p:sp>
        <p:nvSpPr>
          <p:cNvPr id="184" name="Icon badge layers"/>
          <p:cNvSpPr/>
          <p:nvPr/>
        </p:nvSpPr>
        <p:spPr>
          <a:xfrm>
            <a:off x="623151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5" name="Icon layers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0947" y="13951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>
                <a:solidFill>
                  <a:srgbClr val="121826"/>
                </a:solidFill>
                <a:latin typeface="Google Sans Flex"/>
              </a:rPr>
              <a:t>:  https://github.com/Sihyeon-Ji/2026-google-ai-builder-cup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>
                <a:solidFill>
                  <a:srgbClr val="566074"/>
                </a:solidFill>
                <a:latin typeface="Google Sans Flex"/>
              </a:rPr>
              <a:t>:  [YouTube / Vimeo / Drive link – under 3 minutes]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>
                <a:solidFill>
                  <a:srgbClr val="566074"/>
                </a:solidFill>
                <a:latin typeface="Google Sans Flex"/>
              </a:rPr>
              <a:t>:  [Cloud Run URL]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65760" y="2103120"/>
            <a:ext cx="8412480" cy="2514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548640" y="221284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Brief description – how we use Google Cloud and Gemini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2560320"/>
            <a:ext cx="8046720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Product.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Trend Interpreter turns one product into local copy for Korea, Japan and English-language markets, using memes that are in use there now and safe for a brand. Rules pick the meme, Gemini writes, rules check every line and a person approves; every claim links to its source.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Gemini (Vertex AI).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Turns a product photo or line into a brief, then writes 4 lines, a video script and a thumbnail plan per market in one structured call; also judges whether copy uses a meme as meant. In the batch pipeline it reads trending Shorts and runs Search-grounded research.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Cloud Run.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Hosts the Next.js web app, the private FastAPI API, the publication, backup and maintenance jobs and the alert relay; data lives in Cloud SQL for PostgreSQL.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566074"/>
                </a:solidFill>
                <a:latin typeface="Google Sans Flex"/>
              </a:rPr>
              <a:t>Firebase / Firestore.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Not used – the versioned dictionary is relational.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 and notes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Every number in this deck has a source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1280160"/>
            <a:ext cx="4069080" cy="3337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Brief about the idea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  </a:t>
            </a:r>
            <a:r>
              <a:rPr sz="850">
                <a:solidFill>
                  <a:srgbClr val="121826"/>
                </a:solidFill>
                <a:latin typeface="Google Sans Flex"/>
              </a:rPr>
              <a:t>Starbucks Korea “Tank Day”: pulled within hours, CEO fired, Seattle apology. The Korea Herald, 2026-05-19.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2  </a:t>
            </a:r>
            <a:r>
              <a:rPr sz="850">
                <a:solidFill>
                  <a:srgbClr val="121826"/>
                </a:solidFill>
                <a:latin typeface="Google Sans Flex"/>
              </a:rPr>
              <a:t>Card payments −26.3% (₩32.16bn → ₩23.69bn), 18–24 May vs the week before. IGAWorks Mobile Index via Korea JoongAng Daily, 2026-05-27.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3  </a:t>
            </a:r>
            <a:r>
              <a:rPr sz="850">
                <a:solidFill>
                  <a:srgbClr val="121826"/>
                </a:solidFill>
                <a:latin typeface="Google Sans Flex"/>
              </a:rPr>
              <a:t>Pyrah, Wang, Li, Xie, “The Slang Paradox”, Journal of Marketing Research 62(5), 2025; via BakeryandSnacks, 2026-08-21.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4  </a:t>
            </a:r>
            <a:r>
              <a:rPr sz="850">
                <a:solidFill>
                  <a:srgbClr val="121826"/>
                </a:solidFill>
                <a:latin typeface="Google Sans Flex"/>
              </a:rPr>
              <a:t>Gen Z social media users, past month: 71% saw brands use slang or trends, 42% liked it, 32% did not. Morning Consult, 2024-12-09 (n = 1,002).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Opportunities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5  </a:t>
            </a:r>
            <a:r>
              <a:rPr sz="850">
                <a:solidFill>
                  <a:srgbClr val="121826"/>
                </a:solidFill>
                <a:latin typeface="Google Sans Flex"/>
              </a:rPr>
              <a:t>Brandwatch Consumer Research one-pager; React Score (2024-12-03); sentiment in 44 languages; Iris Writing Assistant (beta).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6  </a:t>
            </a:r>
            <a:r>
              <a:rPr sz="850">
                <a:solidFill>
                  <a:srgbClr val="121826"/>
                </a:solidFill>
                <a:latin typeface="Google Sans Flex"/>
              </a:rPr>
              <a:t>Know Your Meme: entries with origin and numbered references, English only.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7  </a:t>
            </a:r>
            <a:r>
              <a:rPr sz="850">
                <a:solidFill>
                  <a:srgbClr val="121826"/>
                </a:solidFill>
                <a:latin typeface="Google Sans Flex"/>
              </a:rPr>
              <a:t>Google Trends help: relative 0–100 index, Rising and Breakout, 100+ countries.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8  </a:t>
            </a:r>
            <a:r>
              <a:rPr sz="850">
                <a:solidFill>
                  <a:srgbClr val="121826"/>
                </a:solidFill>
                <a:latin typeface="Google Sans Flex"/>
              </a:rPr>
              <a:t>TikTok Creative Center trends by country; Symphony writes scripts (help pages, June–July 2026). All checked 2026-10-11.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709160" y="1280160"/>
            <a:ext cx="4069080" cy="3337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Cost and performance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9  </a:t>
            </a:r>
            <a:r>
              <a:rPr sz="850">
                <a:solidFill>
                  <a:srgbClr val="121826"/>
                </a:solidFill>
                <a:latin typeface="Google Sans Flex"/>
              </a:rPr>
              <a:t>Gemini list price: Vertex AI generative AI pricing, gemini-3.8-flash, global standard.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10  </a:t>
            </a:r>
            <a:r>
              <a:rPr sz="850">
                <a:solidFill>
                  <a:srgbClr val="121826"/>
                </a:solidFill>
                <a:latin typeface="Google Sans Flex"/>
              </a:rPr>
              <a:t>Evaluation: EVALUATION.md and evals/recommend-rounds.csv in the repository; judgments are AI drafts reviewed by one person.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Who pays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11  </a:t>
            </a:r>
            <a:r>
              <a:rPr sz="850">
                <a:solidFill>
                  <a:srgbClr val="121826"/>
                </a:solidFill>
                <a:latin typeface="Google Sans Flex"/>
              </a:rPr>
              <a:t>Japan social media marketing ¥1.2038 trillion in 2024 (+13%). CyberBuzz × Digital InFact via Web担当者Forum, 2024-11-14.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12  </a:t>
            </a:r>
            <a:r>
              <a:rPr sz="850">
                <a:solidFill>
                  <a:srgbClr val="121826"/>
                </a:solidFill>
                <a:latin typeface="Google Sans Flex"/>
              </a:rPr>
              <a:t>Korea online advertising ₩10.10 trillion in 2024, 59% of ad spend. KOBACO survey via journalist.or.kr, 2026-01-08.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13  </a:t>
            </a:r>
            <a:r>
              <a:rPr sz="850">
                <a:solidFill>
                  <a:srgbClr val="121826"/>
                </a:solidFill>
                <a:latin typeface="Google Sans Flex"/>
              </a:rPr>
              <a:t>Sprout Social pricing page, seen 2026-10-11.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14  </a:t>
            </a:r>
            <a:r>
              <a:rPr sz="850">
                <a:solidFill>
                  <a:srgbClr val="121826"/>
                </a:solidFill>
                <a:latin typeface="Google Sans Flex"/>
              </a:rPr>
              <a:t>Brandwatch median contract $50,000 a year (40 purchases). Vendr, February 2026 – procurement data, not a list price.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15  </a:t>
            </a:r>
            <a:r>
              <a:rPr sz="850">
                <a:solidFill>
                  <a:srgbClr val="121826"/>
                </a:solidFill>
                <a:latin typeface="Google Sans Flex"/>
              </a:rPr>
              <a:t>Draft cost: 1 product brief + 3 markets × (copy + opinion) = 7 calls × $0.0015, our estimate.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3636</Words>
  <Application>Microsoft Office PowerPoint</Application>
  <PresentationFormat>화면 슬라이드 쇼(16:9)</PresentationFormat>
  <Paragraphs>339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Google Sans Flex Medium</vt:lpstr>
      <vt:lpstr>Google Sans Flex</vt:lpstr>
      <vt:lpstr>Arial</vt:lpstr>
      <vt:lpstr>Google Sans Flex SemiBold</vt:lpstr>
      <vt:lpstr>Simple Light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eunji choi</cp:lastModifiedBy>
  <cp:revision>1</cp:revision>
  <dcterms:modified xsi:type="dcterms:W3CDTF">2026-10-11T06:49:35Z</dcterms:modified>
</cp:coreProperties>
</file>