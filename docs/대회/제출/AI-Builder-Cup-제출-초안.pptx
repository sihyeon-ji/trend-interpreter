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Gen Z</c:v>
                </c:pt>
              </c:strCache>
            </c:strRef>
          </c:tx>
          <c:spPr>
            <a:solidFill>
              <a:srgbClr val="B8C0CC"/>
            </a:solidFill>
          </c:spPr>
          <c:dPt>
            <c:idx val="2"/>
            <c:spPr>
              <a:solidFill>
                <a:srgbClr val="121826"/>
              </a:solidFill>
            </c:spPr>
          </c:dPt>
          <c:cat>
            <c:strRef>
              <c:f>Sheet1!$A$2:$A$4</c:f>
              <c:strCache>
                <c:ptCount val="3"/>
                <c:pt idx="0">
                  <c:v>Disliked it</c:v>
                </c:pt>
                <c:pt idx="1">
                  <c:v>Liked it</c:v>
                </c:pt>
                <c:pt idx="2">
                  <c:v>Saw brands use slang or trends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0.32</c:v>
                </c:pt>
                <c:pt idx="1">
                  <c:v>0.42</c:v>
                </c:pt>
                <c:pt idx="2">
                  <c:v>0.71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12182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fit</c:v>
                </c:pt>
              </c:strCache>
            </c:strRef>
          </c:tx>
          <c:spPr>
            <a:solidFill>
              <a:srgbClr val="B8C0CC"/>
            </a:solidFill>
          </c:spPr>
          <c:dPt>
            <c:idx val="5"/>
            <c:spPr>
              <a:solidFill>
                <a:srgbClr val="121826"/>
              </a:solidFill>
            </c:spPr>
          </c:dPt>
          <c:cat>
            <c:strRef>
              <c:f>Sheet1!$A$2:$A$7</c:f>
              <c:strCache>
                <c:ptCount val="6"/>
                <c:pt idx="0">
                  <c:v>R4</c:v>
                </c:pt>
                <c:pt idx="1">
                  <c:v>R5</c:v>
                </c:pt>
                <c:pt idx="2">
                  <c:v>R6</c:v>
                </c:pt>
                <c:pt idx="3">
                  <c:v>R7</c:v>
                </c:pt>
                <c:pt idx="4">
                  <c:v>R8</c:v>
                </c:pt>
                <c:pt idx="5">
                  <c:v>R9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0.57</c:v>
                </c:pt>
                <c:pt idx="2">
                  <c:v>0.63</c:v>
                </c:pt>
                <c:pt idx="3">
                  <c:v>0.85</c:v>
                </c:pt>
                <c:pt idx="4">
                  <c:v>0.67</c:v>
                </c:pt>
                <c:pt idx="5">
                  <c:v>0.91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12182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E1E8"/>
            </a:solidFill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 and leader confirmed (2026-10-11).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Sources: Starbucks Korea 'Tank Day' – The Korea Herald 2026-05-19 https://www.koreaherald.com/article/10741050 (pulled within hours, CEO fired, Seattle apology, Emart −6%). Pyrah, Wang, Li, Xie, 'The Slang Paradox: Connecting or Disconnecting with Consumers?', Journal of Marketing Research 62(5), 2025 – BakeryandSnacks 2026-08-21 https://www.bakeryandsnacks.com/Article/2026/08/21/why-internet-slang-can-damage-food-and-drink-brands/ . Morning Consult 2024-12-09 https://intel.morningconsult.com/mc-content/analysis/brands-social-media-trends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Screenshots of the deployed service, 2026-10-11 (data collected 2026-10-09). Retake after the 10-16 data refresh.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Before submission: confirm the Trend web and API are deployed on Cloud Run with Cloud SQL (Plan 05), then fill in the product URL and the demo video link.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COPYBARA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Choi Eunji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 Media, Content &amp; Digital Experiences – brand marketers and short-form creators in JAPAC cannot tell whether a trending meme is still alive, safe for a brand, or how to use it in their own market.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115568"/>
            <a:ext cx="84124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21826"/>
                </a:solidFill>
                <a:latin typeface="Google Sans Flex"/>
              </a:rPr>
              <a:t>Trend Interpreter </a:t>
            </a:r>
            <a:r>
              <a:rPr sz="1350" b="0" i="0">
                <a:solidFill>
                  <a:srgbClr val="121826"/>
                </a:solidFill>
                <a:latin typeface="Google Sans Flex"/>
              </a:rPr>
              <a:t>turns one product into local copy for each market – Korea, Japan and English-language – using memes that are in use there now and safe for a brand, with a source behind every claim and a person approving before anything goes out.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9385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Why now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0" y="1938528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4718304" y="2029968"/>
            <a:ext cx="39136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Create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18304" y="2286000"/>
            <a:ext cx="3959352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Photo + one line, pick markets → rules pick one meme per market, with why and what was left out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0" y="2825496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718304" y="2916936"/>
            <a:ext cx="39136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448E0"/>
                </a:solidFill>
                <a:latin typeface="Google Sans Flex"/>
              </a:rPr>
              <a:t>Approve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8304" y="3172968"/>
            <a:ext cx="3959352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writes 4 lines, a video script and a thumbnail plan; rules re-check each line; a person approves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0" y="3712464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718304" y="3803904"/>
            <a:ext cx="39136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Check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18304" y="4059936"/>
            <a:ext cx="3959352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Every meme links to its dictionary entry and sources; paste your own copy to see what is risky or fading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Theme: Media, Content &amp; Digital Experiences  ·  Copy for KR, JP and English markets  ·  Trends for 10 APAC markets + global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2240280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May 2026  ·  Starbucks Korea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A “Tank Day” pun on the 5·18 democracy anniversary: pulled within hours, CEO fired, parent’s shares −6% next day.</a:t>
            </a:r>
          </a:p>
          <a:p>
            <a:pPr>
              <a:spcBef>
                <a:spcPts val="70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2025  ·  Journal of Marketing Research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Shoppers read brand slang as inauthentic, and young consumers as negatively as older ones.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365760" y="3493008"/>
          <a:ext cx="3931920" cy="96012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90" name="TextBox 89"/>
          <p:cNvSpPr txBox="1"/>
          <p:nvPr/>
        </p:nvSpPr>
        <p:spPr>
          <a:xfrm>
            <a:off x="365760" y="446227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750" b="0">
                <a:solidFill>
                  <a:srgbClr val="566074"/>
                </a:solidFill>
                <a:latin typeface="Google Sans Flex"/>
              </a:rPr>
              <a:t>Gen Z social media users, past month · Morning Consult, Dec 2024 (n = 1,002)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199632" y="1371600"/>
            <a:ext cx="24140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USP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99632" y="1874519"/>
            <a:ext cx="2377440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Evidence first: no source, no claim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The model never marks a meme “safe” on its own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10 JAPAC markets, collected globally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From trend insight to a ready script in one flow</a:t>
            </a:r>
          </a:p>
        </p:txBody>
      </p:sp>
      <p:graphicFrame>
        <p:nvGraphicFramePr>
          <p:cNvPr id="92" name="Table 91"/>
          <p:cNvGraphicFramePr>
            <a:graphicFrameLocks noGrp="1"/>
          </p:cNvGraphicFramePr>
          <p:nvPr/>
        </p:nvGraphicFramePr>
        <p:xfrm>
          <a:off x="365760" y="1280160"/>
          <a:ext cx="5486400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914400"/>
                <a:gridCol w="914400"/>
                <a:gridCol w="914400"/>
                <a:gridCol w="9144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566074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66074"/>
                          </a:solidFill>
                          <a:latin typeface="Google Sans Flex"/>
                        </a:rPr>
                        <a:t>Social listening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66074"/>
                          </a:solidFill>
                          <a:latin typeface="Google Sans Flex"/>
                        </a:rPr>
                        <a:t>Meme wikis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66074"/>
                          </a:solidFill>
                          <a:latin typeface="Google Sans Flex"/>
                        </a:rPr>
                        <a:t>Trend tools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21826"/>
                          </a:solidFill>
                          <a:latin typeface="Google Sans Flex"/>
                        </a:rPr>
                        <a:t>Trend Interpreter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How much it is used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What it means, where from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Rising or fading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Safe for a brand, and why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Per market, in its language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Writes copy a person approves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A source behind every claim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365760" y="4498848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800" b="0">
                <a:solidFill>
                  <a:srgbClr val="566074"/>
                </a:solidFill>
                <a:latin typeface="Google Sans Flex"/>
              </a:rPr>
              <a:t>●  covers it   ○  partly   –  not its job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512064" y="134416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Campaign drafts per market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" y="175564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Product photo + one line → one meme per market picked by rules (fit, tone, lifecycle, risk), then 4 lines, a video script and a thumbnail plan in that market’s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3346704" y="134416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Rule check + human approval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46704" y="175564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Every line is re-checked: meme used, no profanity, X length, one language, no “like …” intros. Failing lines are rewritten once or dropped; a person approves before copying.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3504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181344" y="134416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Copy check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81344" y="175564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Paste your own copy: each meme is marked fine, use with care, fading, not used in this market or don’t use, with an AI opinion on whether it is used as meant.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576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512064" y="312724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Evidence-backed meme dictionary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064" y="353872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Versioned meanings. Auto-listed only with a reference document (Namuwiki, Wikipedia, Know Your Meme…); otherwise a human reviews.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040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346704" y="312724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Brand-risk levels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46704" y="353872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None · Caution · Avoid · Not enough evidence – rules over classified evidence; avoid-level memes stay off public lists; reviewers can override.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181344" y="312724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Trends, briefing &amp; world map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81344" y="353872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Memes in use, fading or needing care per market with 12-week mentions; a one-page market briefing; a map of how one meme differs by country.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09728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At request time – rules pick, Gemini writes, rules check, a person approves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53035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1  Pick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035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Product photo + one line, markets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35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photo/line → product brief.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score verified memes by fit, tone, lifecycle, risk → one per market, with left-outs.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62656" y="2331720"/>
            <a:ext cx="246888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4612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41071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2  Write &amp; check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1071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market, in its language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1071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one structured call → 4 lines, video script, thumbnail plan.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re-check each line; one rewrite, failing line dropped; AI opinion on meaning.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843016" y="2331720"/>
            <a:ext cx="246888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12648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29107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448E0"/>
                </a:solidFill>
                <a:latin typeface="Google Sans Flex"/>
              </a:rPr>
              <a:t>3  Approve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 person decides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9107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Nothing can be copied until a reviewer approves.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The approval is recorded with the reviewer’s name; every meme links to its evidence.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3429000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Before requests – batch pipeline on the collection server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6576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Collect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08176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157276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57276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Classify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615184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779776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2779776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Research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(Gemini + Search)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3822191" y="4078224"/>
            <a:ext cx="146305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3986784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986784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029200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5193792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193792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Lifecycle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236208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640080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 + rules)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443216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0780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60780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Publish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Every recommendation and generated item carries its sources and observation time. Human reviewers can override meanings and risk levels; automated runs never overwrite a human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143000"/>
            <a:ext cx="1965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502920" y="1216152"/>
            <a:ext cx="169163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Public data sources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514600" y="1143000"/>
            <a:ext cx="2971800" cy="356616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2651760" y="1216152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Collection server – batch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669280" y="1143000"/>
            <a:ext cx="3108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5806440" y="121615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Google Cloud – serving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02920" y="155448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48640" y="15544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YouTube Data API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0" y="1993391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48640" y="1993391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02920" y="2432304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48640" y="243230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Google News RSS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02920" y="2871215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48640" y="2871215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0" y="3310128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548640" y="331012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Wikipedia · Wiktionary · Namuwiki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0" y="3749039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3749039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GDELT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0" y="41879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548640" y="418795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Community forums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(usage signal only)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240280" y="2926080"/>
            <a:ext cx="246888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651760" y="1554480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2743200" y="1591056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21826"/>
                </a:solidFill>
                <a:latin typeface="Google Sans Flex"/>
              </a:rPr>
              <a:t>Pipeline + ADK agent team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21826"/>
                </a:solidFill>
                <a:latin typeface="Google Sans Flex"/>
              </a:rPr>
              <a:t>collect → classify → interpret → research → verify → track → risk → fit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51760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2715768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Gemma 4 12B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local · Ollama · Kaggle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classify, translate, label evidence, fit tags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050791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114800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Gemini · Vertex AI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Shorts video interpretation, Search-grounded research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51760" y="35661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2651760" y="3566160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21826"/>
                </a:solidFill>
                <a:latin typeface="Google Sans Flex"/>
              </a:rPr>
              <a:t>PostgreSQL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66074"/>
                </a:solidFill>
                <a:latin typeface="Google Sans Flex"/>
              </a:rPr>
              <a:t>drafts · evidence · review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651760" y="4096512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800" b="0" i="0">
                <a:solidFill>
                  <a:srgbClr val="566074"/>
                </a:solidFill>
                <a:latin typeface="Google Sans Flex"/>
              </a:rPr>
              <a:t>Only verified, reviewed entries are published to Cloud SQL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367528" y="3794760"/>
            <a:ext cx="192938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5669280" y="356616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750" b="0" i="0">
                <a:solidFill>
                  <a:srgbClr val="566074"/>
                </a:solidFill>
                <a:latin typeface="Google Sans Flex"/>
              </a:rPr>
              <a:t>publish verified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80644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80644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User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browser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31520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31520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Web · Next.js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31520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731520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API · FastAPI (private)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80644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580644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Vertex AI Gemini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product brief, content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315200" y="3511296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7315200" y="3511296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Cloud SQL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PostgreSQL · published data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7150608" y="1856231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7973568" y="2157984"/>
            <a:ext cx="0" cy="219456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7150608" y="2679192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973568" y="2980944"/>
            <a:ext cx="0" cy="512064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5806440" y="4169663"/>
            <a:ext cx="2834640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121826"/>
                </a:solidFill>
                <a:latin typeface="Google Sans Flex"/>
              </a:rPr>
              <a:t>Ops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121826"/>
                </a:solidFill>
                <a:latin typeface="Google Sans Flex"/>
              </a:rPr>
              <a:t>Secret Manager · Artifact Registry · Cloud Monitoring → Pub/Sub → alert relay (Cloud Run) · Terraform · GitHub Actions via Workload Identity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502920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Generative 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Gemini 3.8 Flash on Vertex AI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video interpretation, Search grounding, photo understanding, content generation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Gemma 4 12B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(local, Kaggle, on-demand L4 VM) – classification, translation, evidence labeling, live re-checks for reviewers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Google ADK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pipeline agent team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496312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633472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33472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Run (web, API, alert relay)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SQL for PostgreSQL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Vertex AI · Compute Engine L4 GPU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Secret Manager · Artifact Registry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Pub/Sub · Cloud Monitoring &amp; Logging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Workload Identity Federation · Terraform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26864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64024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Application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64024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Next.js 16 · React 19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FastAPI · Python 3.12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PostgreSQL, numbered migrations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Docker Compose dev stack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Pytest · Playwright e2e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GitHub Actions CI / release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57416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894576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Data sources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94576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YouTube Data API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News RSS · GDELT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Wikipedia · Wiktionary · Namuwiki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Firebase / Firestore are not used: the dictionary is relational and versioned (meanings, evidence, reviews), so it lives in Cloud SQL for PostgreSQL.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$0.0015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864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request-time Gemini call*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040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8328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≈ $15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8328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10,000 Gemini calls*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3504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1792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always-on GPU – Gemma runs in the batch; an L4 VM starts only for reviewer demos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6576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Cost guards built 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907792"/>
            <a:ext cx="41148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daily call cap recorded in the database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Per-instance request limit (20 / min) on recommend &amp; create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Cloud Run scales to zero; monthly Cloud Run spend limit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One Gemini call per request step; heavy work is batched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6344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Design choice that avoided the biggest cost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663440" y="2907792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828032" y="2980944"/>
            <a:ext cx="379476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121826"/>
                </a:solidFill>
                <a:latin typeface="Google Sans Flex"/>
              </a:rPr>
              <a:t>Always-on Cloud Run L4 GPU for Gemma: </a:t>
            </a:r>
            <a:r>
              <a:rPr sz="1000" b="0" i="0">
                <a:solidFill>
                  <a:srgbClr val="121826"/>
                </a:solidFill>
                <a:latin typeface="Google Sans Flex"/>
              </a:rPr>
              <a:t>≈ $753 / month (720 h, Tier-1 list price, excluding free tier).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We run Gemma 4 in the batch pipeline and on an L4 VM that is started only when needed, and keep request-time AI on Gemini, so serving cost follows usage.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*List-price estimate for gemini-3.8-flash (Vertex AI global standard, through 2026-12-31), 1,000 input + 200 output tokens; excludes thinking tokens, grounding, caching and taxes. Cloud SQL (smallest shared-core tier): [confirm from Billing].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36576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Create – one product, a meme picked per market (/)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1772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Explore – memes in use, fading or needing care (/trends)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Dictionary entry – can I use it, meaning and sources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World map – memes per market and across borders (/map)</a:t>
            </a:r>
          </a:p>
        </p:txBody>
      </p:sp>
      <p:pic>
        <p:nvPicPr>
          <p:cNvPr id="148" name="Picture 147" descr="crop-cre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49" name="Picture 148" descr="crop-expl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1143000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0" name="Picture 149" descr="crop-ent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2953512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1" name="Picture 150" descr="crop-ma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2953512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02920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40% → 91%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Picks that fit the product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same 12 cases, round 4 → 9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496312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633472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33472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Risky picks shown as “no issue”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round 9 · was 2 in round 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26864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4764024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6.6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Recommend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14.1 s · Gemini on Vertex AI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757416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894576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16.3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94576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Create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27.9 s · one structured call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Picks that fit the product, by round (same 12 cases)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66344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Method and limits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3440" y="2926080"/>
            <a:ext cx="4114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12 cases = Korea, Japan, English × cosmetics, drink, running shoes, budgeting app; 4 get no pick (mostly Japan).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 on a read-only copy of production data, 2026-10-09–10; judgments are AI drafts reviewed by one person.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Between rounds: no “like …” intros (R5), meme type filter (R6), usage words fixed by people (R7), new data (R8), human risk calls (R9).</a:t>
            </a:r>
          </a:p>
        </p:txBody>
      </p:sp>
      <p:graphicFrame>
        <p:nvGraphicFramePr>
          <p:cNvPr id="160" name="Chart 159"/>
          <p:cNvGraphicFramePr>
            <a:graphicFrameLocks noGrp="1"/>
          </p:cNvGraphicFramePr>
          <p:nvPr/>
        </p:nvGraphicFramePr>
        <p:xfrm>
          <a:off x="365760" y="2926080"/>
          <a:ext cx="4114800" cy="1600200"/>
        </p:xfrm>
        <a:graphic>
          <a:graphicData uri="http://schemas.openxmlformats.org/drawingml/2006/chart">
            <c:chart r:id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30352" y="130759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Before submission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30352" y="1828800"/>
            <a:ext cx="239572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Final dictionary refresh, then re-measure the 12 cases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Show Gemma classifying live on the L4 VM in the demo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More Japanese candidates: 3 of 4 products get no pick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Human labels for list-filter precision and recall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Cross-check every entry against reference docs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0040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3364992" y="130759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Next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64992" y="1828800"/>
            <a:ext cx="239572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Term relation graph: derived memes link to the original meaning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Model-based nuance check, only if evaluation shows rules miss it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Team review workflow with decision history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3504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6199632" y="130759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Later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199632" y="1828800"/>
            <a:ext cx="239572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Link memes to songs, dances and formats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New regions by changing the region filter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Brand-specific avoid lists and shared workspaces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>
                <a:solidFill>
                  <a:srgbClr val="121826"/>
                </a:solidFill>
                <a:latin typeface="Google Sans Flex"/>
              </a:rPr>
              <a:t>:  https://github.com/Sihyeon-Ji/2026-google-ai-builder-cup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>
                <a:solidFill>
                  <a:srgbClr val="566074"/>
                </a:solidFill>
                <a:latin typeface="Google Sans Flex"/>
              </a:rPr>
              <a:t>:  [YouTube / Vimeo / Drive link – under 3 minutes]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>
                <a:solidFill>
                  <a:srgbClr val="566074"/>
                </a:solidFill>
                <a:latin typeface="Google Sans Flex"/>
              </a:rPr>
              <a:t>:  [Cloud Run URL]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65760" y="2103120"/>
            <a:ext cx="8412480" cy="2514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48640" y="22128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Brief description – how we use Google Cloud and Gemini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2560320"/>
            <a:ext cx="804672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Product.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Trend Interpreter shows brand marketers and short-form creators which memes are in use in each JAPAC market, which to avoid, and writes ready-to-use copy, scripts and thumbnail plans from a chosen meme, with sources for every claim.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Gemini (Vertex AI).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Reads Shorts videos and runs Search-grounded research in the batch pipeline; at request time it turns a product photo or copy into a structured brief and generates content in one structured call.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Cloud Run.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Hosts the Next.js web app, the private FastAPI API and the alert relay; data lives in Cloud SQL for PostgreSQL.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566074"/>
                </a:solidFill>
                <a:latin typeface="Google Sans Flex"/>
              </a:rPr>
              <a:t>Firebase / Firestore.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Not used – the versioned dictionary is relational.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Impact, feasibility and scalability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53035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Impact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035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check lifespan and risk before a meme goes into a public campaign.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go from a product photo to approved local copy in one flow.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Audiences across JAPAC see memes used with the meaning they know.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566074"/>
                </a:solidFill>
                <a:latin typeface="Google Sans Flex"/>
              </a:rPr>
              <a:t>Expected benefits – not yet measured with users.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336499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Feasibility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6499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Deployed on Cloud Run with Cloud SQL; 8 of 12 evaluation cases run end to end with Gemini.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Verdicts and reasons are rule code; models draft meanings and write copy.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510 API tests, 46 browser e2e tests and Terraform validation pass.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Built-in cost caps keep the service open through judging.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TextBox 176"/>
          <p:cNvSpPr txBox="1"/>
          <p:nvPr/>
        </p:nvSpPr>
        <p:spPr>
          <a:xfrm>
            <a:off x="619963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Scalability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19963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Collect globally, serve per market: a new region is a filter change plus data.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Heavy AI work is batched once and reused by every user.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Stateless Cloud Run services scale to zero and back out.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The same evidence dictionary can feed other content tools via the API.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