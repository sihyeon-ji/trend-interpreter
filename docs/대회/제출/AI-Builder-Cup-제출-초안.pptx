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Gen Z</c:v>
                </c:pt>
              </c:strCache>
            </c:strRef>
          </c:tx>
          <c:spPr>
            <a:solidFill>
              <a:srgbClr val="B8C0CC"/>
            </a:solidFill>
          </c:spPr>
          <c:dPt>
            <c:idx val="2"/>
            <c:spPr>
              <a:solidFill>
                <a:srgbClr val="121826"/>
              </a:solidFill>
            </c:spPr>
          </c:dPt>
          <c:cat>
            <c:strRef>
              <c:f>Sheet1!$A$2:$A$4</c:f>
              <c:strCache>
                <c:ptCount val="3"/>
                <c:pt idx="0">
                  <c:v>Disliked it</c:v>
                </c:pt>
                <c:pt idx="1">
                  <c:v>Liked it</c:v>
                </c:pt>
                <c:pt idx="2">
                  <c:v>Saw brands use slang or trends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0.32</c:v>
                </c:pt>
                <c:pt idx="1">
                  <c:v>0.42</c:v>
                </c:pt>
                <c:pt idx="2">
                  <c:v>0.71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900" b="1">
                  <a:solidFill>
                    <a:srgbClr val="121826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66074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566074"/>
          </a:solidFill>
          <a:latin typeface="Google Sans Flex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fit</c:v>
                </c:pt>
              </c:strCache>
            </c:strRef>
          </c:tx>
          <c:spPr>
            <a:solidFill>
              <a:srgbClr val="B8C0CC"/>
            </a:solidFill>
          </c:spPr>
          <c:dPt>
            <c:idx val="5"/>
            <c:spPr>
              <a:solidFill>
                <a:srgbClr val="121826"/>
              </a:solidFill>
            </c:spPr>
          </c:dPt>
          <c:cat>
            <c:strRef>
              <c:f>Sheet1!$A$2:$A$7</c:f>
              <c:strCache>
                <c:ptCount val="6"/>
                <c:pt idx="0">
                  <c:v>R4</c:v>
                </c:pt>
                <c:pt idx="1">
                  <c:v>R5</c:v>
                </c:pt>
                <c:pt idx="2">
                  <c:v>R6</c:v>
                </c:pt>
                <c:pt idx="3">
                  <c:v>R7</c:v>
                </c:pt>
                <c:pt idx="4">
                  <c:v>R8</c:v>
                </c:pt>
                <c:pt idx="5">
                  <c:v>R9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0.4</c:v>
                </c:pt>
                <c:pt idx="1">
                  <c:v>0.57</c:v>
                </c:pt>
                <c:pt idx="2">
                  <c:v>0.63</c:v>
                </c:pt>
                <c:pt idx="3">
                  <c:v>0.85</c:v>
                </c:pt>
                <c:pt idx="4">
                  <c:v>0.67</c:v>
                </c:pt>
                <c:pt idx="5">
                  <c:v>0.91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900" b="1">
                  <a:solidFill>
                    <a:srgbClr val="121826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CE1E8"/>
            </a:solidFill>
          </a:ln>
        </c:spPr>
        <c:txPr>
          <a:bodyPr/>
          <a:lstStyle/>
          <a:p>
            <a:pPr>
              <a:defRPr sz="900">
                <a:solidFill>
                  <a:srgbClr val="566074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566074"/>
          </a:solidFill>
          <a:latin typeface="Google Sans Flex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Team and leader confirmed (2026-10-11).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Sources: Starbucks Korea 'Tank Day' – The Korea Herald 2026-05-19 https://www.koreaherald.com/article/10741050 (pulled within hours, CEO fired, Seattle apology, Emart −6%). Pyrah, Wang, Li, Xie, 'The Slang Paradox: Connecting or Disconnecting with Consumers?', Journal of Marketing Research 62(5), 2025 – BakeryandSnacks 2026-08-21 https://www.bakeryandsnacks.com/Article/2026/08/21/why-internet-slang-can-damage-food-and-drink-brands/ . Morning Consult 2024-12-09 https://intel.morningconsult.com/mc-content/analysis/brands-social-media-trends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Screenshots of the deployed service, 2026-10-11 (data collected 2026-10-09). Retake after the 10-16 data refresh.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Before submission: confirm the Trend web and API are deployed on Cloud Run with Cloud SQL (Plan 05), then fill in the product URL and the demo video link.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sz="1300" b="0">
                <a:solidFill>
                  <a:srgbClr val="202124"/>
                </a:solidFill>
                <a:latin typeface="Google Sans Flex"/>
              </a:rPr>
              <a:t> COPYBARA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sz="1300" b="0">
                <a:solidFill>
                  <a:srgbClr val="202124"/>
                </a:solidFill>
                <a:latin typeface="Google Sans Flex"/>
              </a:rPr>
              <a:t> Choi Eunji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sz="1200" b="0">
                <a:solidFill>
                  <a:srgbClr val="202124"/>
                </a:solidFill>
                <a:latin typeface="Google Sans Flex"/>
              </a:rPr>
              <a:t> Media, Content &amp; Digital Experiences – brand marketers and short-form creators in JAPAC cannot tell whether a trending meme is still alive, safe for a brand, or how to use it in their own market.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/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65760" y="1115568"/>
            <a:ext cx="841248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21826"/>
                </a:solidFill>
                <a:latin typeface="Google Sans Flex"/>
              </a:rPr>
              <a:t>Trend Interpreter </a:t>
            </a:r>
            <a:r>
              <a:rPr sz="1350" b="0" i="0">
                <a:solidFill>
                  <a:srgbClr val="121826"/>
                </a:solidFill>
                <a:latin typeface="Google Sans Flex"/>
              </a:rPr>
              <a:t>turns one product into local copy for each market – Korea, Japan and English-language – using memes that are in use there now and safe for a brand, with a source behind every claim and a person approving before anything goes out.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1938528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Why now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572000" y="1938528"/>
            <a:ext cx="4206240" cy="768096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TextBox 76"/>
          <p:cNvSpPr txBox="1"/>
          <p:nvPr/>
        </p:nvSpPr>
        <p:spPr>
          <a:xfrm>
            <a:off x="4718304" y="2029968"/>
            <a:ext cx="391363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Create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718304" y="2286000"/>
            <a:ext cx="3959352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21826"/>
                </a:solidFill>
                <a:latin typeface="Google Sans Flex"/>
              </a:rPr>
              <a:t>Photo + one line, pick markets → rules pick one meme per market, with why and what was left out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572000" y="2825496"/>
            <a:ext cx="4206240" cy="768096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4718304" y="2916936"/>
            <a:ext cx="391363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2448E0"/>
                </a:solidFill>
                <a:latin typeface="Google Sans Flex"/>
              </a:rPr>
              <a:t>Approve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18304" y="3172968"/>
            <a:ext cx="3959352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21826"/>
                </a:solidFill>
                <a:latin typeface="Google Sans Flex"/>
              </a:rPr>
              <a:t>Gemini writes 4 lines, a video script and a thumbnail plan; rules re-check each line; a person approves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572000" y="3712464"/>
            <a:ext cx="4206240" cy="768096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4718304" y="3803904"/>
            <a:ext cx="391363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Check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718304" y="4059936"/>
            <a:ext cx="3959352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21826"/>
                </a:solidFill>
                <a:latin typeface="Google Sans Flex"/>
              </a:rPr>
              <a:t>Every meme links to its dictionary entry and sources; paste your own copy to see what is risky or fading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5760" y="4754880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566074"/>
                </a:solidFill>
                <a:latin typeface="Google Sans Flex"/>
              </a:rPr>
              <a:t>Theme: Media, Content &amp; Digital Experiences  ·  Copy for KR, JP and English markets  ·  Trends for 10 JAPAC markets + global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2240280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</a:pPr>
            <a:r>
              <a:rPr sz="900" b="0">
                <a:solidFill>
                  <a:srgbClr val="566074"/>
                </a:solidFill>
                <a:latin typeface="Google Sans Flex"/>
              </a:rPr>
              <a:t>May 2026  ·  Starbucks Korea</a:t>
            </a:r>
          </a:p>
          <a:p>
            <a:pPr>
              <a:spcBef>
                <a:spcPts val="0"/>
              </a:spcBef>
            </a:pPr>
            <a:r>
              <a:rPr sz="1050" b="0">
                <a:solidFill>
                  <a:srgbClr val="121826"/>
                </a:solidFill>
                <a:latin typeface="Google Sans Flex"/>
              </a:rPr>
              <a:t>A “Tank Day” pun on the 5·18 democracy anniversary: pulled within hours, CEO fired, parent’s shares −6% next day.</a:t>
            </a:r>
          </a:p>
          <a:p>
            <a:pPr>
              <a:spcBef>
                <a:spcPts val="700"/>
              </a:spcBef>
            </a:pPr>
            <a:r>
              <a:rPr sz="900" b="0">
                <a:solidFill>
                  <a:srgbClr val="566074"/>
                </a:solidFill>
                <a:latin typeface="Google Sans Flex"/>
              </a:rPr>
              <a:t>2025  ·  Journal of Marketing Research</a:t>
            </a:r>
          </a:p>
          <a:p>
            <a:pPr>
              <a:spcBef>
                <a:spcPts val="0"/>
              </a:spcBef>
            </a:pPr>
            <a:r>
              <a:rPr sz="1050" b="0">
                <a:solidFill>
                  <a:srgbClr val="121826"/>
                </a:solidFill>
                <a:latin typeface="Google Sans Flex"/>
              </a:rPr>
              <a:t>Shoppers read brand slang as inauthentic, and young consumers as negatively as older ones.</a:t>
            </a:r>
          </a:p>
        </p:txBody>
      </p:sp>
      <p:graphicFrame>
        <p:nvGraphicFramePr>
          <p:cNvPr id="89" name="Chart 88"/>
          <p:cNvGraphicFramePr>
            <a:graphicFrameLocks noGrp="1"/>
          </p:cNvGraphicFramePr>
          <p:nvPr/>
        </p:nvGraphicFramePr>
        <p:xfrm>
          <a:off x="365760" y="3493008"/>
          <a:ext cx="3931920" cy="960120"/>
        </p:xfrm>
        <a:graphic>
          <a:graphicData uri="http://schemas.openxmlformats.org/drawingml/2006/chart">
            <c:chart r:id="rId4"/>
          </a:graphicData>
        </a:graphic>
      </p:graphicFrame>
      <p:sp>
        <p:nvSpPr>
          <p:cNvPr id="90" name="TextBox 89"/>
          <p:cNvSpPr txBox="1"/>
          <p:nvPr/>
        </p:nvSpPr>
        <p:spPr>
          <a:xfrm>
            <a:off x="365760" y="4462272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</a:pPr>
            <a:r>
              <a:rPr sz="750" b="0">
                <a:solidFill>
                  <a:srgbClr val="566074"/>
                </a:solidFill>
                <a:latin typeface="Google Sans Flex"/>
              </a:rPr>
              <a:t>Gen Z social media users, past month · Morning Consult, Dec 2024 (n = 1,002)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557784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/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6035040" y="1234440"/>
            <a:ext cx="2697480" cy="34290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6199632" y="1371600"/>
            <a:ext cx="24140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USP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199632" y="1874519"/>
            <a:ext cx="2377440" cy="2697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1000"/>
              </a:spcAft>
              <a:buClr>
                <a:srgbClr val="5F6368"/>
              </a:buClr>
              <a:buFont typeface="Arial"/>
              <a:buChar char="•"/>
            </a:pPr>
            <a:r>
              <a:rPr sz="1150" b="0" i="0">
                <a:solidFill>
                  <a:srgbClr val="121826"/>
                </a:solidFill>
                <a:latin typeface="Google Sans Flex"/>
              </a:rPr>
              <a:t>Evidence first: no source, no claim</a:t>
            </a:r>
          </a:p>
          <a:p>
            <a:pPr algn="l" marL="146304" indent="-146304">
              <a:spcAft>
                <a:spcPts val="1000"/>
              </a:spcAft>
              <a:buClr>
                <a:srgbClr val="5F6368"/>
              </a:buClr>
              <a:buFont typeface="Arial"/>
              <a:buChar char="•"/>
            </a:pPr>
            <a:r>
              <a:rPr sz="1150" b="0" i="0">
                <a:solidFill>
                  <a:srgbClr val="121826"/>
                </a:solidFill>
                <a:latin typeface="Google Sans Flex"/>
              </a:rPr>
              <a:t>The model never marks a meme “safe” on its own</a:t>
            </a:r>
          </a:p>
          <a:p>
            <a:pPr algn="l" marL="146304" indent="-146304">
              <a:spcAft>
                <a:spcPts val="1000"/>
              </a:spcAft>
              <a:buClr>
                <a:srgbClr val="5F6368"/>
              </a:buClr>
              <a:buFont typeface="Arial"/>
              <a:buChar char="•"/>
            </a:pPr>
            <a:r>
              <a:rPr sz="1150" b="0" i="0">
                <a:solidFill>
                  <a:srgbClr val="121826"/>
                </a:solidFill>
                <a:latin typeface="Google Sans Flex"/>
              </a:rPr>
              <a:t>10 JAPAC markets, collected globally</a:t>
            </a:r>
          </a:p>
          <a:p>
            <a:pPr algn="l" marL="146304" indent="-146304">
              <a:spcAft>
                <a:spcPts val="1000"/>
              </a:spcAft>
              <a:buClr>
                <a:srgbClr val="5F6368"/>
              </a:buClr>
              <a:buFont typeface="Arial"/>
              <a:buChar char="•"/>
            </a:pPr>
            <a:r>
              <a:rPr sz="1150" b="0" i="0">
                <a:solidFill>
                  <a:srgbClr val="121826"/>
                </a:solidFill>
                <a:latin typeface="Google Sans Flex"/>
              </a:rPr>
              <a:t>From one product to approved local copy in one flow</a:t>
            </a:r>
          </a:p>
        </p:txBody>
      </p:sp>
      <p:graphicFrame>
        <p:nvGraphicFramePr>
          <p:cNvPr id="92" name="Table 91"/>
          <p:cNvGraphicFramePr>
            <a:graphicFrameLocks noGrp="1"/>
          </p:cNvGraphicFramePr>
          <p:nvPr/>
        </p:nvGraphicFramePr>
        <p:xfrm>
          <a:off x="365760" y="1280160"/>
          <a:ext cx="5486400" cy="3072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28800"/>
                <a:gridCol w="914400"/>
                <a:gridCol w="914400"/>
                <a:gridCol w="914400"/>
                <a:gridCol w="91440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566074"/>
                          </a:solidFill>
                          <a:latin typeface="Google Sans Flex"/>
                        </a:rPr>
                        <a:t/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566074"/>
                          </a:solidFill>
                          <a:latin typeface="Google Sans Flex"/>
                        </a:rPr>
                        <a:t>Social listening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566074"/>
                          </a:solidFill>
                          <a:latin typeface="Google Sans Flex"/>
                        </a:rPr>
                        <a:t>Meme wikis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566074"/>
                          </a:solidFill>
                          <a:latin typeface="Google Sans Flex"/>
                        </a:rPr>
                        <a:t>Trend tools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121826"/>
                          </a:solidFill>
                          <a:latin typeface="Google Sans Flex"/>
                        </a:rPr>
                        <a:t>Trend Interpreter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21826"/>
                          </a:solidFill>
                          <a:latin typeface="Google Sans Flex"/>
                        </a:rPr>
                        <a:t>How much it is used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B8C0CC"/>
                          </a:solidFill>
                          <a:latin typeface="Google Sans Flex"/>
                        </a:rPr>
                        <a:t>–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21826"/>
                          </a:solidFill>
                          <a:latin typeface="Google Sans Flex"/>
                        </a:rPr>
                        <a:t>What it means, where from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B8C0CC"/>
                          </a:solidFill>
                          <a:latin typeface="Google Sans Flex"/>
                        </a:rPr>
                        <a:t>–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B8C0CC"/>
                          </a:solidFill>
                          <a:latin typeface="Google Sans Flex"/>
                        </a:rPr>
                        <a:t>–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21826"/>
                          </a:solidFill>
                          <a:latin typeface="Google Sans Flex"/>
                        </a:rPr>
                        <a:t>Rising or fading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566074"/>
                          </a:solidFill>
                          <a:latin typeface="Google Sans Flex"/>
                        </a:rPr>
                        <a:t>○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B8C0CC"/>
                          </a:solidFill>
                          <a:latin typeface="Google Sans Flex"/>
                        </a:rPr>
                        <a:t>–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21826"/>
                          </a:solidFill>
                          <a:latin typeface="Google Sans Flex"/>
                        </a:rPr>
                        <a:t>Safe for a brand, and why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566074"/>
                          </a:solidFill>
                          <a:latin typeface="Google Sans Flex"/>
                        </a:rPr>
                        <a:t>○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B8C0CC"/>
                          </a:solidFill>
                          <a:latin typeface="Google Sans Flex"/>
                        </a:rPr>
                        <a:t>–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B8C0CC"/>
                          </a:solidFill>
                          <a:latin typeface="Google Sans Flex"/>
                        </a:rPr>
                        <a:t>–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21826"/>
                          </a:solidFill>
                          <a:latin typeface="Google Sans Flex"/>
                        </a:rPr>
                        <a:t>Per market, in its language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566074"/>
                          </a:solidFill>
                          <a:latin typeface="Google Sans Flex"/>
                        </a:rPr>
                        <a:t>○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566074"/>
                          </a:solidFill>
                          <a:latin typeface="Google Sans Flex"/>
                        </a:rPr>
                        <a:t>○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566074"/>
                          </a:solidFill>
                          <a:latin typeface="Google Sans Flex"/>
                        </a:rPr>
                        <a:t>○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21826"/>
                          </a:solidFill>
                          <a:latin typeface="Google Sans Flex"/>
                        </a:rPr>
                        <a:t>Writes copy a person approves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B8C0CC"/>
                          </a:solidFill>
                          <a:latin typeface="Google Sans Flex"/>
                        </a:rPr>
                        <a:t>–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B8C0CC"/>
                          </a:solidFill>
                          <a:latin typeface="Google Sans Flex"/>
                        </a:rPr>
                        <a:t>–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B8C0CC"/>
                          </a:solidFill>
                          <a:latin typeface="Google Sans Flex"/>
                        </a:rPr>
                        <a:t>–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121826"/>
                          </a:solidFill>
                          <a:latin typeface="Google Sans Flex"/>
                        </a:rPr>
                        <a:t>A source behind every claim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B8C0CC"/>
                          </a:solidFill>
                          <a:latin typeface="Google Sans Flex"/>
                        </a:rPr>
                        <a:t>–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B8C0CC"/>
                          </a:solidFill>
                          <a:latin typeface="Google Sans Flex"/>
                        </a:rPr>
                        <a:t>–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121826"/>
                          </a:solidFill>
                          <a:latin typeface="Google Sans Flex"/>
                        </a:rPr>
                        <a:t>●</a:t>
                      </a:r>
                    </a:p>
                  </a:txBody>
                  <a:tcPr marL="73152" marR="36576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CE1E8"/>
                      </a:solidFill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3" name="TextBox 92"/>
          <p:cNvSpPr txBox="1"/>
          <p:nvPr/>
        </p:nvSpPr>
        <p:spPr>
          <a:xfrm>
            <a:off x="365760" y="4498848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Bef>
                <a:spcPts val="0"/>
              </a:spcBef>
            </a:pPr>
            <a:r>
              <a:rPr sz="800" b="0">
                <a:solidFill>
                  <a:srgbClr val="566074"/>
                </a:solidFill>
                <a:latin typeface="Google Sans Flex"/>
              </a:rPr>
              <a:t>●  covers it   ○  partly   –  not its job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/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365760" y="1188720"/>
            <a:ext cx="2697480" cy="16459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512064" y="1344168"/>
            <a:ext cx="2404872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Campaign drafts per market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12064" y="1755648"/>
            <a:ext cx="2386584" cy="9875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Product photo + one line → one meme per market picked by rules (fit, tone, lifecycle, risk), then 4 lines, a video script and a thumbnail plan in that market’s language.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200400" y="1188720"/>
            <a:ext cx="2697480" cy="16459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3346704" y="1344168"/>
            <a:ext cx="2404872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Rule check + human approval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346704" y="1755648"/>
            <a:ext cx="2386584" cy="9875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Every line is re-checked: meme used, no profanity, X length, one language, no “like …” intros. Failing lines are rewritten once or dropped; a person approves before copying.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035040" y="1188720"/>
            <a:ext cx="2697480" cy="16459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6181344" y="1344168"/>
            <a:ext cx="2404872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Copy check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181344" y="1755648"/>
            <a:ext cx="2386584" cy="9875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Paste your own copy: each meme is marked fine, use with care, fading, not used in this market or don’t use, with an AI opinion on whether it is used as meant.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65760" y="2971800"/>
            <a:ext cx="2697480" cy="16459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512064" y="3127248"/>
            <a:ext cx="2404872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Evidence-backed meme dictionary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12064" y="3538728"/>
            <a:ext cx="2386584" cy="9875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Versioned meanings. Auto-listed only with a reference document (Namuwiki, Wikipedia, Know Your Meme…); otherwise a human reviews.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200400" y="2971800"/>
            <a:ext cx="2697480" cy="16459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3346704" y="3127248"/>
            <a:ext cx="2404872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Brand-risk levels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346704" y="3538728"/>
            <a:ext cx="2386584" cy="9875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None · Caution · Avoid · Not enough evidence – rules over classified evidence; avoid-level memes stay off public lists; reviewers can override.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6035040" y="2971800"/>
            <a:ext cx="2697480" cy="16459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6181344" y="3127248"/>
            <a:ext cx="2404872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Trends, briefing &amp; world map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181344" y="3538728"/>
            <a:ext cx="2386584" cy="9875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Memes in use, fading or needing care per market with 12-week mentions; a one-page market briefing; a map of how one meme differs by country.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/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365760" y="109728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66074"/>
                </a:solidFill>
                <a:latin typeface="Google Sans Flex"/>
              </a:rPr>
              <a:t>At request time – rules pick, Gemini writes, rules check, a person approves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65760" y="1417320"/>
            <a:ext cx="2560320" cy="18288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530352" y="152704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21826"/>
                </a:solidFill>
                <a:latin typeface="Google Sans Flex"/>
              </a:rPr>
              <a:t>1  Pick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30352" y="181051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66074"/>
                </a:solidFill>
                <a:latin typeface="Google Sans Flex"/>
              </a:rPr>
              <a:t>Product photo + one line, markets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30352" y="2121408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Gemini: photo/line → product brief.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Rules score verified memes by fit, tone, lifecycle, risk → one per market, with left-outs.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2962656" y="2331720"/>
            <a:ext cx="246888" cy="0"/>
          </a:xfrm>
          <a:prstGeom prst="line">
            <a:avLst/>
          </a:prstGeom>
          <a:ln w="15875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3246120" y="1417320"/>
            <a:ext cx="2560320" cy="18288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TextBox 102"/>
          <p:cNvSpPr txBox="1"/>
          <p:nvPr/>
        </p:nvSpPr>
        <p:spPr>
          <a:xfrm>
            <a:off x="3410712" y="152704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21826"/>
                </a:solidFill>
                <a:latin typeface="Google Sans Flex"/>
              </a:rPr>
              <a:t>2  Write &amp; check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10712" y="181051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66074"/>
                </a:solidFill>
                <a:latin typeface="Google Sans Flex"/>
              </a:rPr>
              <a:t>Per market, in its language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410712" y="2121408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Gemini: one structured call → 4 lines, video script, thumbnail plan.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Rules re-check each line; one rewrite, failing line dropped; AI opinion on meaning.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5843016" y="2331720"/>
            <a:ext cx="246888" cy="0"/>
          </a:xfrm>
          <a:prstGeom prst="line">
            <a:avLst/>
          </a:prstGeom>
          <a:ln w="15875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Rounded Rectangle 106"/>
          <p:cNvSpPr/>
          <p:nvPr/>
        </p:nvSpPr>
        <p:spPr>
          <a:xfrm>
            <a:off x="6126480" y="1417320"/>
            <a:ext cx="2560320" cy="18288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6291072" y="152704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448E0"/>
                </a:solidFill>
                <a:latin typeface="Google Sans Flex"/>
              </a:rPr>
              <a:t>3  Approve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291072" y="181051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66074"/>
                </a:solidFill>
                <a:latin typeface="Google Sans Flex"/>
              </a:rPr>
              <a:t>A person decides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91072" y="2121408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Nothing can be copied until a reviewer approves.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The approval is recorded with the reviewer’s name; every meme links to its evidence.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65760" y="3429000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566074"/>
                </a:solidFill>
                <a:latin typeface="Google Sans Flex"/>
              </a:rPr>
              <a:t>Before requests – batch pipeline on the collection server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365760" y="3749039"/>
            <a:ext cx="1024128" cy="658368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TextBox 112"/>
          <p:cNvSpPr txBox="1"/>
          <p:nvPr/>
        </p:nvSpPr>
        <p:spPr>
          <a:xfrm>
            <a:off x="365760" y="3749039"/>
            <a:ext cx="10241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Collect</a:t>
            </a:r>
          </a:p>
        </p:txBody>
      </p:sp>
      <p:cxnSp>
        <p:nvCxnSpPr>
          <p:cNvPr id="114" name="Connector 113"/>
          <p:cNvCxnSpPr/>
          <p:nvPr/>
        </p:nvCxnSpPr>
        <p:spPr>
          <a:xfrm>
            <a:off x="1408176" y="4078224"/>
            <a:ext cx="146304" cy="0"/>
          </a:xfrm>
          <a:prstGeom prst="line">
            <a:avLst/>
          </a:prstGeom>
          <a:ln w="15875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ounded Rectangle 114"/>
          <p:cNvSpPr/>
          <p:nvPr/>
        </p:nvSpPr>
        <p:spPr>
          <a:xfrm>
            <a:off x="1572768" y="3749039"/>
            <a:ext cx="1024128" cy="658368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TextBox 115"/>
          <p:cNvSpPr txBox="1"/>
          <p:nvPr/>
        </p:nvSpPr>
        <p:spPr>
          <a:xfrm>
            <a:off x="1572768" y="3749039"/>
            <a:ext cx="10241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Classify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(Gemma)</a:t>
            </a:r>
          </a:p>
        </p:txBody>
      </p:sp>
      <p:cxnSp>
        <p:nvCxnSpPr>
          <p:cNvPr id="117" name="Connector 116"/>
          <p:cNvCxnSpPr/>
          <p:nvPr/>
        </p:nvCxnSpPr>
        <p:spPr>
          <a:xfrm>
            <a:off x="2615184" y="4078224"/>
            <a:ext cx="146304" cy="0"/>
          </a:xfrm>
          <a:prstGeom prst="line">
            <a:avLst/>
          </a:prstGeom>
          <a:ln w="15875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Rounded Rectangle 117"/>
          <p:cNvSpPr/>
          <p:nvPr/>
        </p:nvSpPr>
        <p:spPr>
          <a:xfrm>
            <a:off x="2779776" y="3749039"/>
            <a:ext cx="1024128" cy="658368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TextBox 118"/>
          <p:cNvSpPr txBox="1"/>
          <p:nvPr/>
        </p:nvSpPr>
        <p:spPr>
          <a:xfrm>
            <a:off x="2779776" y="3749039"/>
            <a:ext cx="10241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Research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(Gemini + Search)</a:t>
            </a:r>
          </a:p>
        </p:txBody>
      </p:sp>
      <p:cxnSp>
        <p:nvCxnSpPr>
          <p:cNvPr id="120" name="Connector 119"/>
          <p:cNvCxnSpPr/>
          <p:nvPr/>
        </p:nvCxnSpPr>
        <p:spPr>
          <a:xfrm>
            <a:off x="3822191" y="4078224"/>
            <a:ext cx="146305" cy="0"/>
          </a:xfrm>
          <a:prstGeom prst="line">
            <a:avLst/>
          </a:prstGeom>
          <a:ln w="15875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Rounded Rectangle 120"/>
          <p:cNvSpPr/>
          <p:nvPr/>
        </p:nvSpPr>
        <p:spPr>
          <a:xfrm>
            <a:off x="3986784" y="3749039"/>
            <a:ext cx="1024128" cy="658368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3986784" y="3749039"/>
            <a:ext cx="10241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Verify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(rules)</a:t>
            </a:r>
          </a:p>
        </p:txBody>
      </p:sp>
      <p:cxnSp>
        <p:nvCxnSpPr>
          <p:cNvPr id="123" name="Connector 122"/>
          <p:cNvCxnSpPr/>
          <p:nvPr/>
        </p:nvCxnSpPr>
        <p:spPr>
          <a:xfrm>
            <a:off x="5029200" y="4078224"/>
            <a:ext cx="146304" cy="0"/>
          </a:xfrm>
          <a:prstGeom prst="line">
            <a:avLst/>
          </a:prstGeom>
          <a:ln w="15875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Rounded Rectangle 123"/>
          <p:cNvSpPr/>
          <p:nvPr/>
        </p:nvSpPr>
        <p:spPr>
          <a:xfrm>
            <a:off x="5193792" y="3749039"/>
            <a:ext cx="1024128" cy="658368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TextBox 124"/>
          <p:cNvSpPr txBox="1"/>
          <p:nvPr/>
        </p:nvSpPr>
        <p:spPr>
          <a:xfrm>
            <a:off x="5193792" y="3749039"/>
            <a:ext cx="10241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Lifecycle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(rules)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6236208" y="4078224"/>
            <a:ext cx="146304" cy="0"/>
          </a:xfrm>
          <a:prstGeom prst="line">
            <a:avLst/>
          </a:prstGeom>
          <a:ln w="15875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Rounded Rectangle 126"/>
          <p:cNvSpPr/>
          <p:nvPr/>
        </p:nvSpPr>
        <p:spPr>
          <a:xfrm>
            <a:off x="6400800" y="3749039"/>
            <a:ext cx="1024128" cy="658368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6400800" y="3749039"/>
            <a:ext cx="10241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Risk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(Gemma + rules)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7443216" y="4078224"/>
            <a:ext cx="146304" cy="0"/>
          </a:xfrm>
          <a:prstGeom prst="line">
            <a:avLst/>
          </a:prstGeom>
          <a:ln w="15875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7607808" y="3749039"/>
            <a:ext cx="1024128" cy="658368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TextBox 130"/>
          <p:cNvSpPr txBox="1"/>
          <p:nvPr/>
        </p:nvSpPr>
        <p:spPr>
          <a:xfrm>
            <a:off x="7607808" y="3749039"/>
            <a:ext cx="1024128" cy="6583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Publish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5760" y="4553712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566074"/>
                </a:solidFill>
                <a:latin typeface="Google Sans Flex"/>
              </a:rPr>
              <a:t>Every recommendation and generated item carries its sources and observation time. Human reviewers can override meanings and risk levels; automated runs never overwrite a human decision.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/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365760" y="1143000"/>
            <a:ext cx="1965960" cy="3566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TextBox 112"/>
          <p:cNvSpPr txBox="1"/>
          <p:nvPr/>
        </p:nvSpPr>
        <p:spPr>
          <a:xfrm>
            <a:off x="502920" y="1216152"/>
            <a:ext cx="1691639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121826"/>
                </a:solidFill>
                <a:latin typeface="Google Sans Flex"/>
              </a:rPr>
              <a:t>Public data sources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2514600" y="1143000"/>
            <a:ext cx="2971800" cy="3566160"/>
          </a:xfrm>
          <a:prstGeom prst="roundRect">
            <a:avLst>
              <a:gd name="adj" fmla="val 4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2651760" y="1216152"/>
            <a:ext cx="269748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121826"/>
                </a:solidFill>
                <a:latin typeface="Google Sans Flex"/>
              </a:rPr>
              <a:t>Collection server – batch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5669280" y="1143000"/>
            <a:ext cx="3108960" cy="3566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5806440" y="1216152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121826"/>
                </a:solidFill>
                <a:latin typeface="Google Sans Flex"/>
              </a:rPr>
              <a:t>Google Cloud – serving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502920" y="1554480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TextBox 118"/>
          <p:cNvSpPr txBox="1"/>
          <p:nvPr/>
        </p:nvSpPr>
        <p:spPr>
          <a:xfrm>
            <a:off x="548640" y="1554480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21826"/>
                </a:solidFill>
                <a:latin typeface="Google Sans Flex"/>
              </a:rPr>
              <a:t>YouTube Data API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2920" y="1993391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TextBox 120"/>
          <p:cNvSpPr txBox="1"/>
          <p:nvPr/>
        </p:nvSpPr>
        <p:spPr>
          <a:xfrm>
            <a:off x="548640" y="1993391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21826"/>
                </a:solidFill>
                <a:latin typeface="Google Sans Flex"/>
              </a:rPr>
              <a:t>Google Trends (BigQuery)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502920" y="2432304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TextBox 122"/>
          <p:cNvSpPr txBox="1"/>
          <p:nvPr/>
        </p:nvSpPr>
        <p:spPr>
          <a:xfrm>
            <a:off x="548640" y="2432304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21826"/>
                </a:solidFill>
                <a:latin typeface="Google Sans Flex"/>
              </a:rPr>
              <a:t>Google News RSS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502920" y="2871215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TextBox 124"/>
          <p:cNvSpPr txBox="1"/>
          <p:nvPr/>
        </p:nvSpPr>
        <p:spPr>
          <a:xfrm>
            <a:off x="548640" y="2871215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21826"/>
                </a:solidFill>
                <a:latin typeface="Google Sans Flex"/>
              </a:rPr>
              <a:t>Naver DataLab · Search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02920" y="3310128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TextBox 126"/>
          <p:cNvSpPr txBox="1"/>
          <p:nvPr/>
        </p:nvSpPr>
        <p:spPr>
          <a:xfrm>
            <a:off x="548640" y="3310128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21826"/>
                </a:solidFill>
                <a:latin typeface="Google Sans Flex"/>
              </a:rPr>
              <a:t>Wikipedia · Wiktionary · Namuwiki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02920" y="3749039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TextBox 128"/>
          <p:cNvSpPr txBox="1"/>
          <p:nvPr/>
        </p:nvSpPr>
        <p:spPr>
          <a:xfrm>
            <a:off x="548640" y="3749039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21826"/>
                </a:solidFill>
                <a:latin typeface="Google Sans Flex"/>
              </a:rPr>
              <a:t>GDELT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02920" y="4187952"/>
            <a:ext cx="16916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TextBox 130"/>
          <p:cNvSpPr txBox="1"/>
          <p:nvPr/>
        </p:nvSpPr>
        <p:spPr>
          <a:xfrm>
            <a:off x="548640" y="4187952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21826"/>
                </a:solidFill>
                <a:latin typeface="Google Sans Flex"/>
              </a:rPr>
              <a:t>Community forums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21826"/>
                </a:solidFill>
                <a:latin typeface="Google Sans Flex"/>
              </a:rPr>
              <a:t>(usage signal only)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2240280" y="2926080"/>
            <a:ext cx="246888" cy="0"/>
          </a:xfrm>
          <a:prstGeom prst="line">
            <a:avLst/>
          </a:prstGeom>
          <a:ln w="15875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ounded Rectangle 132"/>
          <p:cNvSpPr/>
          <p:nvPr/>
        </p:nvSpPr>
        <p:spPr>
          <a:xfrm>
            <a:off x="2651760" y="1554480"/>
            <a:ext cx="269748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2743200" y="1591056"/>
            <a:ext cx="25146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1" i="0">
                <a:solidFill>
                  <a:srgbClr val="121826"/>
                </a:solidFill>
                <a:latin typeface="Google Sans Flex"/>
              </a:rPr>
              <a:t>Pipeline + ADK agent team</a:t>
            </a:r>
          </a:p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21826"/>
                </a:solidFill>
                <a:latin typeface="Google Sans Flex"/>
              </a:rPr>
              <a:t>collect → classify → interpret → research → verify → track → risk → fit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2651760" y="2514600"/>
            <a:ext cx="1298448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2715768" y="2551176"/>
            <a:ext cx="118872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100"/>
              </a:spcAft>
            </a:pPr>
            <a:r>
              <a:rPr sz="800" b="1" i="0">
                <a:solidFill>
                  <a:srgbClr val="121826"/>
                </a:solidFill>
                <a:latin typeface="Google Sans Flex"/>
              </a:rPr>
              <a:t>Gemma 4 12B</a:t>
            </a:r>
          </a:p>
          <a:p>
            <a:pPr algn="l">
              <a:spcAft>
                <a:spcPts val="100"/>
              </a:spcAft>
            </a:pPr>
            <a:r>
              <a:rPr sz="800" b="0" i="0">
                <a:solidFill>
                  <a:srgbClr val="121826"/>
                </a:solidFill>
                <a:latin typeface="Google Sans Flex"/>
              </a:rPr>
              <a:t>local · Ollama · Kaggle</a:t>
            </a:r>
          </a:p>
          <a:p>
            <a:pPr algn="l">
              <a:spcAft>
                <a:spcPts val="100"/>
              </a:spcAft>
            </a:pPr>
            <a:r>
              <a:rPr sz="800" b="0" i="0">
                <a:solidFill>
                  <a:srgbClr val="121826"/>
                </a:solidFill>
                <a:latin typeface="Google Sans Flex"/>
              </a:rPr>
              <a:t>classify, translate, label evidence, fit tags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4050791" y="2514600"/>
            <a:ext cx="1298448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4114800" y="2551176"/>
            <a:ext cx="118872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100"/>
              </a:spcAft>
            </a:pPr>
            <a:r>
              <a:rPr sz="800" b="1" i="0">
                <a:solidFill>
                  <a:srgbClr val="121826"/>
                </a:solidFill>
                <a:latin typeface="Google Sans Flex"/>
              </a:rPr>
              <a:t>Gemini · Vertex AI</a:t>
            </a:r>
          </a:p>
          <a:p>
            <a:pPr algn="l">
              <a:spcAft>
                <a:spcPts val="100"/>
              </a:spcAft>
            </a:pPr>
            <a:r>
              <a:rPr sz="800" b="0" i="0">
                <a:solidFill>
                  <a:srgbClr val="121826"/>
                </a:solidFill>
                <a:latin typeface="Google Sans Flex"/>
              </a:rPr>
              <a:t>Shorts video interpretation, Search-grounded research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2651760" y="3566160"/>
            <a:ext cx="269748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2651760" y="3566160"/>
            <a:ext cx="269748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121826"/>
                </a:solidFill>
                <a:latin typeface="Google Sans Flex"/>
              </a:rPr>
              <a:t>PostgreSQL</a:t>
            </a:r>
          </a:p>
          <a:p>
            <a:pPr algn="ctr">
              <a:spcAft>
                <a:spcPts val="0"/>
              </a:spcAft>
            </a:pPr>
            <a:r>
              <a:rPr sz="750" b="0" i="0">
                <a:solidFill>
                  <a:srgbClr val="566074"/>
                </a:solidFill>
                <a:latin typeface="Google Sans Flex"/>
              </a:rPr>
              <a:t>drafts · evidence · review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651760" y="4096512"/>
            <a:ext cx="269748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Aft>
                <a:spcPts val="400"/>
              </a:spcAft>
            </a:pPr>
            <a:r>
              <a:rPr sz="800" b="0" i="0">
                <a:solidFill>
                  <a:srgbClr val="566074"/>
                </a:solidFill>
                <a:latin typeface="Google Sans Flex"/>
              </a:rPr>
              <a:t>Only verified, reviewed entries are published to Cloud SQL</a:t>
            </a:r>
          </a:p>
        </p:txBody>
      </p:sp>
      <p:cxnSp>
        <p:nvCxnSpPr>
          <p:cNvPr id="142" name="Connector 141"/>
          <p:cNvCxnSpPr/>
          <p:nvPr/>
        </p:nvCxnSpPr>
        <p:spPr>
          <a:xfrm>
            <a:off x="5367528" y="3794760"/>
            <a:ext cx="1929384" cy="0"/>
          </a:xfrm>
          <a:prstGeom prst="line">
            <a:avLst/>
          </a:prstGeom>
          <a:ln w="15875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TextBox 142"/>
          <p:cNvSpPr txBox="1"/>
          <p:nvPr/>
        </p:nvSpPr>
        <p:spPr>
          <a:xfrm>
            <a:off x="5669280" y="3566160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spcAft>
                <a:spcPts val="400"/>
              </a:spcAft>
            </a:pPr>
            <a:r>
              <a:rPr sz="750" b="0" i="0">
                <a:solidFill>
                  <a:srgbClr val="566074"/>
                </a:solidFill>
                <a:latin typeface="Google Sans Flex"/>
              </a:rPr>
              <a:t>publish verified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5806440" y="1572768"/>
            <a:ext cx="132588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TextBox 144"/>
          <p:cNvSpPr txBox="1"/>
          <p:nvPr/>
        </p:nvSpPr>
        <p:spPr>
          <a:xfrm>
            <a:off x="5806440" y="1572768"/>
            <a:ext cx="132588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121826"/>
                </a:solidFill>
                <a:latin typeface="Google Sans Flex"/>
              </a:rPr>
              <a:t>User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21826"/>
                </a:solidFill>
                <a:latin typeface="Google Sans Flex"/>
              </a:rPr>
              <a:t>browser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7315200" y="1572768"/>
            <a:ext cx="132588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TextBox 146"/>
          <p:cNvSpPr txBox="1"/>
          <p:nvPr/>
        </p:nvSpPr>
        <p:spPr>
          <a:xfrm>
            <a:off x="7315200" y="1572768"/>
            <a:ext cx="132588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121826"/>
                </a:solidFill>
                <a:latin typeface="Google Sans Flex"/>
              </a:rPr>
              <a:t>Cloud Run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21826"/>
                </a:solidFill>
                <a:latin typeface="Google Sans Flex"/>
              </a:rPr>
              <a:t>Web · Next.js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7315200" y="2395728"/>
            <a:ext cx="132588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TextBox 148"/>
          <p:cNvSpPr txBox="1"/>
          <p:nvPr/>
        </p:nvSpPr>
        <p:spPr>
          <a:xfrm>
            <a:off x="7315200" y="2395728"/>
            <a:ext cx="132588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121826"/>
                </a:solidFill>
                <a:latin typeface="Google Sans Flex"/>
              </a:rPr>
              <a:t>Cloud Run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21826"/>
                </a:solidFill>
                <a:latin typeface="Google Sans Flex"/>
              </a:rPr>
              <a:t>API · FastAPI (private)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5806440" y="2395728"/>
            <a:ext cx="132588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TextBox 150"/>
          <p:cNvSpPr txBox="1"/>
          <p:nvPr/>
        </p:nvSpPr>
        <p:spPr>
          <a:xfrm>
            <a:off x="5806440" y="2395728"/>
            <a:ext cx="132588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121826"/>
                </a:solidFill>
                <a:latin typeface="Google Sans Flex"/>
              </a:rPr>
              <a:t>Vertex AI Gemini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21826"/>
                </a:solidFill>
                <a:latin typeface="Google Sans Flex"/>
              </a:rPr>
              <a:t>product brief, content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7315200" y="3511296"/>
            <a:ext cx="132588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TextBox 152"/>
          <p:cNvSpPr txBox="1"/>
          <p:nvPr/>
        </p:nvSpPr>
        <p:spPr>
          <a:xfrm>
            <a:off x="7315200" y="3511296"/>
            <a:ext cx="1325880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121826"/>
                </a:solidFill>
                <a:latin typeface="Google Sans Flex"/>
              </a:rPr>
              <a:t>Cloud SQL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121826"/>
                </a:solidFill>
                <a:latin typeface="Google Sans Flex"/>
              </a:rPr>
              <a:t>PostgreSQL · published data</a:t>
            </a:r>
          </a:p>
        </p:txBody>
      </p:sp>
      <p:cxnSp>
        <p:nvCxnSpPr>
          <p:cNvPr id="154" name="Connector 153"/>
          <p:cNvCxnSpPr/>
          <p:nvPr/>
        </p:nvCxnSpPr>
        <p:spPr>
          <a:xfrm>
            <a:off x="7150608" y="1856231"/>
            <a:ext cx="146304" cy="0"/>
          </a:xfrm>
          <a:prstGeom prst="line">
            <a:avLst/>
          </a:prstGeom>
          <a:ln w="15875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7973568" y="2157984"/>
            <a:ext cx="0" cy="219456"/>
          </a:xfrm>
          <a:prstGeom prst="line">
            <a:avLst/>
          </a:prstGeom>
          <a:ln w="15875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H="1">
            <a:off x="7150608" y="2679192"/>
            <a:ext cx="146304" cy="0"/>
          </a:xfrm>
          <a:prstGeom prst="line">
            <a:avLst/>
          </a:prstGeom>
          <a:ln w="15875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7973568" y="2980944"/>
            <a:ext cx="0" cy="512064"/>
          </a:xfrm>
          <a:prstGeom prst="line">
            <a:avLst/>
          </a:prstGeom>
          <a:ln w="15875">
            <a:solidFill>
              <a:srgbClr val="7D879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/>
          <p:cNvSpPr txBox="1"/>
          <p:nvPr/>
        </p:nvSpPr>
        <p:spPr>
          <a:xfrm>
            <a:off x="5806440" y="4169663"/>
            <a:ext cx="2834640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100"/>
              </a:spcAft>
            </a:pPr>
            <a:r>
              <a:rPr sz="750" b="1" i="0">
                <a:solidFill>
                  <a:srgbClr val="121826"/>
                </a:solidFill>
                <a:latin typeface="Google Sans Flex"/>
              </a:rPr>
              <a:t>Ops</a:t>
            </a:r>
          </a:p>
          <a:p>
            <a:pPr algn="l">
              <a:spcAft>
                <a:spcPts val="100"/>
              </a:spcAft>
            </a:pPr>
            <a:r>
              <a:rPr sz="750" b="0" i="0">
                <a:solidFill>
                  <a:srgbClr val="121826"/>
                </a:solidFill>
                <a:latin typeface="Google Sans Flex"/>
              </a:rPr>
              <a:t>Secret Manager · Artifact Registry · Cloud Monitoring → Pub/Sub → alert relay (Cloud Run) · Terraform · GitHub Actions via Workload Identity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/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Rounded Rectangle 119"/>
          <p:cNvSpPr/>
          <p:nvPr/>
        </p:nvSpPr>
        <p:spPr>
          <a:xfrm>
            <a:off x="365760" y="1188720"/>
            <a:ext cx="1993392" cy="306324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502920" y="1298448"/>
            <a:ext cx="1783080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Generative AI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02920" y="1755648"/>
            <a:ext cx="1755648" cy="2468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1" i="0">
                <a:solidFill>
                  <a:srgbClr val="121826"/>
                </a:solidFill>
                <a:latin typeface="Google Sans Flex"/>
              </a:rPr>
              <a:t>Gemini 3.8 Flash on Vertex AI</a:t>
            </a:r>
            <a:r>
              <a:rPr sz="950" b="0" i="0">
                <a:solidFill>
                  <a:srgbClr val="121826"/>
                </a:solidFill>
                <a:latin typeface="Google Sans Flex"/>
              </a:rPr>
              <a:t> – video interpretation, Search grounding, photo understanding, content generation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1" i="0">
                <a:solidFill>
                  <a:srgbClr val="121826"/>
                </a:solidFill>
                <a:latin typeface="Google Sans Flex"/>
              </a:rPr>
              <a:t>Gemma 4 12B</a:t>
            </a:r>
            <a:r>
              <a:rPr sz="950" b="0" i="0">
                <a:solidFill>
                  <a:srgbClr val="121826"/>
                </a:solidFill>
                <a:latin typeface="Google Sans Flex"/>
              </a:rPr>
              <a:t> (local, Kaggle, on-demand L4 VM) – classification, translation, evidence labeling, live re-checks for reviewers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1" i="0">
                <a:solidFill>
                  <a:srgbClr val="121826"/>
                </a:solidFill>
                <a:latin typeface="Google Sans Flex"/>
              </a:rPr>
              <a:t>Google ADK</a:t>
            </a:r>
            <a:r>
              <a:rPr sz="950" b="0" i="0">
                <a:solidFill>
                  <a:srgbClr val="121826"/>
                </a:solidFill>
                <a:latin typeface="Google Sans Flex"/>
              </a:rPr>
              <a:t> – pipeline agent team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2496312" y="1188720"/>
            <a:ext cx="1993392" cy="306324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2633472" y="1298448"/>
            <a:ext cx="1783080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Google Cloud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633472" y="1755648"/>
            <a:ext cx="1755648" cy="2468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Cloud Run (web, API, alert relay)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Cloud SQL for PostgreSQL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Vertex AI · Compute Engine L4 GPU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Secret Manager · Artifact Registry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Pub/Sub · Cloud Monitoring &amp; Logging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Workload Identity Federation · Terraform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4626864" y="1188720"/>
            <a:ext cx="1993392" cy="306324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4764024" y="1298448"/>
            <a:ext cx="1783080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Application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764024" y="1755648"/>
            <a:ext cx="1755648" cy="2468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Next.js 16 · React 19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FastAPI · Python 3.12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PostgreSQL, numbered migrations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Docker Compose dev stack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Pytest · Playwright e2e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GitHub Actions CI / release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6757416" y="1188720"/>
            <a:ext cx="1993392" cy="306324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6894576" y="1298448"/>
            <a:ext cx="1783080" cy="32918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Data sources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894576" y="1755648"/>
            <a:ext cx="1755648" cy="2468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YouTube Data API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Google Trends (BigQuery)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Google News RSS · GDELT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Naver DataLab · Search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Wikipedia · Wiktionary · Namuwiki</a:t>
            </a:r>
          </a:p>
          <a:p>
            <a:pPr algn="l" marL="146304" indent="-146304">
              <a:spcAft>
                <a:spcPts val="600"/>
              </a:spcAft>
              <a:buClr>
                <a:srgbClr val="5F6368"/>
              </a:buClr>
              <a:buFont typeface="Arial"/>
              <a:buChar char="•"/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Community forums (counts only)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65760" y="4389120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566074"/>
                </a:solidFill>
                <a:latin typeface="Google Sans Flex"/>
              </a:rPr>
              <a:t>Firebase / Firestore are not used: the dictionary is relational and versioned (meanings, evidence, reviews), so it lives in Cloud SQL for PostgreSQL.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/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Rounded Rectangle 127"/>
          <p:cNvSpPr/>
          <p:nvPr/>
        </p:nvSpPr>
        <p:spPr>
          <a:xfrm>
            <a:off x="365760" y="1188720"/>
            <a:ext cx="2697480" cy="123444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TextBox 128"/>
          <p:cNvSpPr txBox="1"/>
          <p:nvPr/>
        </p:nvSpPr>
        <p:spPr>
          <a:xfrm>
            <a:off x="548640" y="1261872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21826"/>
                </a:solidFill>
                <a:latin typeface="Google Sans Flex"/>
              </a:rPr>
              <a:t>$0.0015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48640" y="1901952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66074"/>
                </a:solidFill>
                <a:latin typeface="Google Sans Flex"/>
              </a:rPr>
              <a:t>per request-time Gemini call*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3200400" y="1188720"/>
            <a:ext cx="2697480" cy="123444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3383280" y="1261872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21826"/>
                </a:solidFill>
                <a:latin typeface="Google Sans Flex"/>
              </a:rPr>
              <a:t>≈ $15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383280" y="1901952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66074"/>
                </a:solidFill>
                <a:latin typeface="Google Sans Flex"/>
              </a:rPr>
              <a:t>per 10,000 Gemini calls*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6035040" y="1188720"/>
            <a:ext cx="2697480" cy="123444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TextBox 134"/>
          <p:cNvSpPr txBox="1"/>
          <p:nvPr/>
        </p:nvSpPr>
        <p:spPr>
          <a:xfrm>
            <a:off x="6217920" y="1261872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21826"/>
                </a:solidFill>
                <a:latin typeface="Google Sans Flex"/>
              </a:rPr>
              <a:t>$0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1901952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66074"/>
                </a:solidFill>
                <a:latin typeface="Google Sans Flex"/>
              </a:rPr>
              <a:t>always-on GPU – Gemma runs in the batch; an L4 VM starts only for reviewer demos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65760" y="2606040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Cost guards built in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65760" y="2907792"/>
            <a:ext cx="4114800" cy="1645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50" b="0" i="0">
                <a:solidFill>
                  <a:srgbClr val="121826"/>
                </a:solidFill>
                <a:latin typeface="Google Sans Flex"/>
              </a:rPr>
              <a:t>Gemini daily call cap recorded in the database</a:t>
            </a:r>
          </a:p>
          <a:p>
            <a:pPr algn="l" marL="146304" indent="-146304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50" b="0" i="0">
                <a:solidFill>
                  <a:srgbClr val="121826"/>
                </a:solidFill>
                <a:latin typeface="Google Sans Flex"/>
              </a:rPr>
              <a:t>Per-instance request limit (20 / min) on recommend &amp; create</a:t>
            </a:r>
          </a:p>
          <a:p>
            <a:pPr algn="l" marL="146304" indent="-146304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50" b="0" i="0">
                <a:solidFill>
                  <a:srgbClr val="121826"/>
                </a:solidFill>
                <a:latin typeface="Google Sans Flex"/>
              </a:rPr>
              <a:t>Cloud Run scales to zero; monthly Cloud Run spend limit</a:t>
            </a:r>
          </a:p>
          <a:p>
            <a:pPr algn="l" marL="146304" indent="-146304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50" b="0" i="0">
                <a:solidFill>
                  <a:srgbClr val="121826"/>
                </a:solidFill>
                <a:latin typeface="Google Sans Flex"/>
              </a:rPr>
              <a:t>One Gemini call per request step; heavy work is batched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663440" y="2606040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Design choice that avoided the biggest cost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4663440" y="2907792"/>
            <a:ext cx="4114800" cy="11430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TextBox 140"/>
          <p:cNvSpPr txBox="1"/>
          <p:nvPr/>
        </p:nvSpPr>
        <p:spPr>
          <a:xfrm>
            <a:off x="4828032" y="2980944"/>
            <a:ext cx="3794760" cy="10241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600"/>
              </a:spcAft>
            </a:pPr>
            <a:r>
              <a:rPr sz="1000" b="1" i="0">
                <a:solidFill>
                  <a:srgbClr val="121826"/>
                </a:solidFill>
                <a:latin typeface="Google Sans Flex"/>
              </a:rPr>
              <a:t>Always-on Cloud Run L4 GPU for Gemma: </a:t>
            </a:r>
            <a:r>
              <a:rPr sz="1000" b="0" i="0">
                <a:solidFill>
                  <a:srgbClr val="121826"/>
                </a:solidFill>
                <a:latin typeface="Google Sans Flex"/>
              </a:rPr>
              <a:t>≈ $753 / month (720 h, Tier-1 list price, excluding free tier).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We run Gemma 4 in the batch pipeline and on an L4 VM that is started only when needed, and keep request-time AI on Gemini, so serving cost follows usage.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65760" y="4434840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566074"/>
                </a:solidFill>
                <a:latin typeface="Google Sans Flex"/>
              </a:rPr>
              <a:t>*List-price estimate for gemini-3.8-flash (Vertex AI global standard, through 2026-12-31), 1,000 input + 200 output tokens; excludes thinking tokens, grounding, caching and taxes. Cloud SQL runs on a free trial instance until about 2026-10-30; a paid tier is set up before then.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/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8" name="TextBox 137"/>
          <p:cNvSpPr txBox="1"/>
          <p:nvPr/>
        </p:nvSpPr>
        <p:spPr>
          <a:xfrm>
            <a:off x="365760" y="260604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Create – one product, a meme picked per market (/)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4617720" y="260604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Explore – memes in use, fading or needing care (/trends)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65760" y="441655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Dictionary entry – can I use it, meaning and sources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617720" y="441655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121826"/>
                </a:solidFill>
                <a:latin typeface="Google Sans Flex"/>
              </a:rPr>
              <a:t>World map – memes per market and across borders (/map)</a:t>
            </a:r>
          </a:p>
        </p:txBody>
      </p:sp>
      <p:pic>
        <p:nvPicPr>
          <p:cNvPr id="148" name="Picture 147" descr="crop-cre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143000"/>
            <a:ext cx="4114800" cy="1417320"/>
          </a:xfrm>
          <a:prstGeom prst="rect">
            <a:avLst/>
          </a:prstGeom>
          <a:ln w="9525">
            <a:solidFill>
              <a:srgbClr val="DCE1E8"/>
            </a:solidFill>
          </a:ln>
        </p:spPr>
      </p:pic>
      <p:pic>
        <p:nvPicPr>
          <p:cNvPr id="149" name="Picture 148" descr="crop-explo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7720" y="1143000"/>
            <a:ext cx="4114800" cy="1417320"/>
          </a:xfrm>
          <a:prstGeom prst="rect">
            <a:avLst/>
          </a:prstGeom>
          <a:ln w="9525">
            <a:solidFill>
              <a:srgbClr val="DCE1E8"/>
            </a:solidFill>
          </a:ln>
        </p:spPr>
      </p:pic>
      <p:pic>
        <p:nvPicPr>
          <p:cNvPr id="150" name="Picture 149" descr="crop-entr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" y="2953512"/>
            <a:ext cx="4114800" cy="1417320"/>
          </a:xfrm>
          <a:prstGeom prst="rect">
            <a:avLst/>
          </a:prstGeom>
          <a:ln w="9525">
            <a:solidFill>
              <a:srgbClr val="DCE1E8"/>
            </a:solidFill>
          </a:ln>
        </p:spPr>
      </p:pic>
      <p:pic>
        <p:nvPicPr>
          <p:cNvPr id="151" name="Picture 150" descr="crop-ma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17720" y="2953512"/>
            <a:ext cx="4114800" cy="1417320"/>
          </a:xfrm>
          <a:prstGeom prst="rect">
            <a:avLst/>
          </a:prstGeom>
          <a:ln w="9525">
            <a:solidFill>
              <a:srgbClr val="DCE1E8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/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Rounded Rectangle 143"/>
          <p:cNvSpPr/>
          <p:nvPr/>
        </p:nvSpPr>
        <p:spPr>
          <a:xfrm>
            <a:off x="365760" y="1143000"/>
            <a:ext cx="1993392" cy="132588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TextBox 144"/>
          <p:cNvSpPr txBox="1"/>
          <p:nvPr/>
        </p:nvSpPr>
        <p:spPr>
          <a:xfrm>
            <a:off x="502920" y="1207008"/>
            <a:ext cx="17830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21826"/>
                </a:solidFill>
                <a:latin typeface="Google Sans Flex"/>
              </a:rPr>
              <a:t>40% → 91%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502920" y="1755648"/>
            <a:ext cx="178308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66074"/>
                </a:solidFill>
                <a:latin typeface="Google Sans Flex"/>
              </a:rPr>
              <a:t>Picks that fit the product</a:t>
            </a:r>
          </a:p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66074"/>
                </a:solidFill>
                <a:latin typeface="Google Sans Flex"/>
              </a:rPr>
              <a:t>same 12 cases, round 4 → 9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2496312" y="1143000"/>
            <a:ext cx="1993392" cy="132588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TextBox 147"/>
          <p:cNvSpPr txBox="1"/>
          <p:nvPr/>
        </p:nvSpPr>
        <p:spPr>
          <a:xfrm>
            <a:off x="2633472" y="1207008"/>
            <a:ext cx="17830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21826"/>
                </a:solidFill>
                <a:latin typeface="Google Sans Flex"/>
              </a:rPr>
              <a:t>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633472" y="1755648"/>
            <a:ext cx="178308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66074"/>
                </a:solidFill>
                <a:latin typeface="Google Sans Flex"/>
              </a:rPr>
              <a:t>Risky picks shown as “no issue”</a:t>
            </a:r>
          </a:p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66074"/>
                </a:solidFill>
                <a:latin typeface="Google Sans Flex"/>
              </a:rPr>
              <a:t>round 9 · was 2 in round 8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4626864" y="1143000"/>
            <a:ext cx="1993392" cy="132588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TextBox 150"/>
          <p:cNvSpPr txBox="1"/>
          <p:nvPr/>
        </p:nvSpPr>
        <p:spPr>
          <a:xfrm>
            <a:off x="4764024" y="1207008"/>
            <a:ext cx="17830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21826"/>
                </a:solidFill>
                <a:latin typeface="Google Sans Flex"/>
              </a:rPr>
              <a:t>6.6 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764024" y="1755648"/>
            <a:ext cx="178308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66074"/>
                </a:solidFill>
                <a:latin typeface="Google Sans Flex"/>
              </a:rPr>
              <a:t>Recommend latency, p50</a:t>
            </a:r>
          </a:p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66074"/>
                </a:solidFill>
                <a:latin typeface="Google Sans Flex"/>
              </a:rPr>
              <a:t>max 14.1 s · Gemini on Vertex AI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757416" y="1143000"/>
            <a:ext cx="1993392" cy="132588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TextBox 153"/>
          <p:cNvSpPr txBox="1"/>
          <p:nvPr/>
        </p:nvSpPr>
        <p:spPr>
          <a:xfrm>
            <a:off x="6894576" y="1207008"/>
            <a:ext cx="17830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21826"/>
                </a:solidFill>
                <a:latin typeface="Google Sans Flex"/>
              </a:rPr>
              <a:t>16.3 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894576" y="1755648"/>
            <a:ext cx="178308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66074"/>
                </a:solidFill>
                <a:latin typeface="Google Sans Flex"/>
              </a:rPr>
              <a:t>Create latency, p50</a:t>
            </a:r>
          </a:p>
          <a:p>
            <a:pPr algn="l">
              <a:spcAft>
                <a:spcPts val="100"/>
              </a:spcAft>
            </a:pPr>
            <a:r>
              <a:rPr sz="900" b="0" i="0">
                <a:solidFill>
                  <a:srgbClr val="566074"/>
                </a:solidFill>
                <a:latin typeface="Google Sans Flex"/>
              </a:rPr>
              <a:t>max 27.9 s · one structured call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65760" y="263347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Picks that fit the product, by round (same 12 cases)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663440" y="263347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1826"/>
                </a:solidFill>
                <a:latin typeface="Google Sans Flex"/>
              </a:rPr>
              <a:t>Method and limits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663440" y="2926080"/>
            <a:ext cx="4114800" cy="1554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12 cases = Korea, Japan, English × cosmetics, drink, running shoes, budgeting app; 4 get no pick (mostly Japan).</a:t>
            </a:r>
          </a:p>
          <a:p>
            <a:pPr algn="l" marL="146304" indent="-146304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Gemini on a read-only copy of production data, 2026-10-09–10; judgments are AI drafts reviewed by one person.</a:t>
            </a:r>
          </a:p>
          <a:p>
            <a:pPr algn="l" marL="146304" indent="-146304">
              <a:spcAft>
                <a:spcPts val="500"/>
              </a:spcAft>
              <a:buClr>
                <a:srgbClr val="5F6368"/>
              </a:buClr>
              <a:buFont typeface="Arial"/>
              <a:buChar char="•"/>
            </a:pPr>
            <a:r>
              <a:rPr sz="1000" b="0" i="0">
                <a:solidFill>
                  <a:srgbClr val="121826"/>
                </a:solidFill>
                <a:latin typeface="Google Sans Flex"/>
              </a:rPr>
              <a:t>Between rounds: no “like …” intros (R5), meme type filter (R6), usage words fixed by people (R7), new data (R8), human risk calls (R9).</a:t>
            </a:r>
          </a:p>
        </p:txBody>
      </p:sp>
      <p:graphicFrame>
        <p:nvGraphicFramePr>
          <p:cNvPr id="160" name="Chart 159"/>
          <p:cNvGraphicFramePr>
            <a:graphicFrameLocks noGrp="1"/>
          </p:cNvGraphicFramePr>
          <p:nvPr/>
        </p:nvGraphicFramePr>
        <p:xfrm>
          <a:off x="365760" y="2926080"/>
          <a:ext cx="4114800" cy="1600200"/>
        </p:xfrm>
        <a:graphic>
          <a:graphicData uri="http://schemas.openxmlformats.org/drawingml/2006/chart">
            <c:chart r:id="rId5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/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365760" y="1188720"/>
            <a:ext cx="2697480" cy="310896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TextBox 153"/>
          <p:cNvSpPr txBox="1"/>
          <p:nvPr/>
        </p:nvSpPr>
        <p:spPr>
          <a:xfrm>
            <a:off x="530352" y="1307592"/>
            <a:ext cx="2414016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Before submission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30352" y="1828800"/>
            <a:ext cx="2395728" cy="2468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Final dictionary refresh, then re-measure the 12 cases</a:t>
            </a:r>
          </a:p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Gemma live re-checks on the L4 VM (code ready, GPU off)</a:t>
            </a:r>
          </a:p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More Japanese candidates: 3 of 4 products get no pick</a:t>
            </a:r>
          </a:p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Human labels for list-filter precision and recall</a:t>
            </a:r>
          </a:p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Cross-check every entry against reference docs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3200400" y="1188720"/>
            <a:ext cx="2697480" cy="310896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9" name="TextBox 158"/>
          <p:cNvSpPr txBox="1"/>
          <p:nvPr/>
        </p:nvSpPr>
        <p:spPr>
          <a:xfrm>
            <a:off x="3364992" y="1307592"/>
            <a:ext cx="2414016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Next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364992" y="1828800"/>
            <a:ext cx="2395728" cy="2468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Term relation graph: derived memes link to the original meaning</a:t>
            </a:r>
          </a:p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Model-based nuance check, only if evaluation shows rules miss it</a:t>
            </a:r>
          </a:p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Team review workflow with decision history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6035040" y="1188720"/>
            <a:ext cx="2697480" cy="310896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TextBox 163"/>
          <p:cNvSpPr txBox="1"/>
          <p:nvPr/>
        </p:nvSpPr>
        <p:spPr>
          <a:xfrm>
            <a:off x="6199632" y="1307592"/>
            <a:ext cx="2414016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Later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199632" y="1828800"/>
            <a:ext cx="2395728" cy="2468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Link memes to songs, dances and formats</a:t>
            </a:r>
          </a:p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New regions by changing the region filter</a:t>
            </a:r>
          </a:p>
          <a:p>
            <a:pPr algn="l" marL="146304" indent="-146304">
              <a:spcAft>
                <a:spcPts val="8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Brand-specific avoid lists and shared workspaces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/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solidFill/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r>
              <a:rPr>
                <a:solidFill>
                  <a:srgbClr val="121826"/>
                </a:solidFill>
                <a:latin typeface="Google Sans Flex"/>
              </a:rPr>
              <a:t>:  https://github.com/Sihyeon-Ji/2026-google-ai-builder-cup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solidFill/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r>
              <a:rPr>
                <a:solidFill>
                  <a:srgbClr val="566074"/>
                </a:solidFill>
                <a:latin typeface="Google Sans Flex"/>
              </a:rPr>
              <a:t>:  [YouTube / Vimeo / Drive link – under 3 minutes]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solidFill/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r>
              <a:rPr>
                <a:solidFill>
                  <a:srgbClr val="566074"/>
                </a:solidFill>
                <a:latin typeface="Google Sans Flex"/>
              </a:rPr>
              <a:t>:  [Cloud Run URL]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365760" y="2103120"/>
            <a:ext cx="8412480" cy="25146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548640" y="2212848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Brief description – how we use Google Cloud and Gemini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548640" y="2560320"/>
            <a:ext cx="8046720" cy="2011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121826"/>
                </a:solidFill>
                <a:latin typeface="Google Sans Flex"/>
              </a:rPr>
              <a:t>Product. </a:t>
            </a:r>
            <a:r>
              <a:rPr sz="1050" b="0" i="0">
                <a:solidFill>
                  <a:srgbClr val="121826"/>
                </a:solidFill>
                <a:latin typeface="Google Sans Flex"/>
              </a:rPr>
              <a:t>Trend Interpreter turns one product into local copy for Korea, Japan and English-language markets, using memes that are in use there now and safe for a brand. Rules pick the meme, Gemini writes, rules check every line and a person approves; every claim links to its source.</a:t>
            </a:r>
          </a:p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121826"/>
                </a:solidFill>
                <a:latin typeface="Google Sans Flex"/>
              </a:rPr>
              <a:t>Gemini (Vertex AI). </a:t>
            </a:r>
            <a:r>
              <a:rPr sz="1050" b="0" i="0">
                <a:solidFill>
                  <a:srgbClr val="121826"/>
                </a:solidFill>
                <a:latin typeface="Google Sans Flex"/>
              </a:rPr>
              <a:t>Turns a product photo or line into a brief, then writes 4 lines, a video script and a thumbnail plan per market in one structured call; also judges whether copy uses a meme as meant. In the batch pipeline it reads trending Shorts and runs Search-grounded research.</a:t>
            </a:r>
          </a:p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121826"/>
                </a:solidFill>
                <a:latin typeface="Google Sans Flex"/>
              </a:rPr>
              <a:t>Cloud Run. </a:t>
            </a:r>
            <a:r>
              <a:rPr sz="1050" b="0" i="0">
                <a:solidFill>
                  <a:srgbClr val="121826"/>
                </a:solidFill>
                <a:latin typeface="Google Sans Flex"/>
              </a:rPr>
              <a:t>Hosts the Next.js web app, the private FastAPI API, the publication, backup and maintenance jobs and the alert relay; data lives in Cloud SQL for PostgreSQL.</a:t>
            </a:r>
          </a:p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566074"/>
                </a:solidFill>
                <a:latin typeface="Google Sans Flex"/>
              </a:rPr>
              <a:t>Firebase / Firestore. </a:t>
            </a:r>
            <a:r>
              <a:rPr sz="1050" b="0" i="0">
                <a:solidFill>
                  <a:srgbClr val="121826"/>
                </a:solidFill>
                <a:latin typeface="Google Sans Flex"/>
              </a:rPr>
              <a:t>Not used – the versioned dictionary is relational.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/>
              </a:rP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/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Impact, feasibility and scalability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7" name="Rounded Rectangle 166"/>
          <p:cNvSpPr/>
          <p:nvPr/>
        </p:nvSpPr>
        <p:spPr>
          <a:xfrm>
            <a:off x="365760" y="1234440"/>
            <a:ext cx="2697480" cy="34290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9" name="TextBox 168"/>
          <p:cNvSpPr txBox="1"/>
          <p:nvPr/>
        </p:nvSpPr>
        <p:spPr>
          <a:xfrm>
            <a:off x="530352" y="1353312"/>
            <a:ext cx="2414016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Impact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530352" y="1847088"/>
            <a:ext cx="2395728" cy="2743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Marketers check lifespan and risk before a meme goes into a public campaign.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Marketers go from a product photo to approved local copy in one flow.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Audiences across JAPAC see memes used with the meaning they know.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566074"/>
                </a:solidFill>
                <a:latin typeface="Google Sans Flex"/>
              </a:rPr>
              <a:t>Expected benefits – not yet measured with users.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3200400" y="1234440"/>
            <a:ext cx="2697480" cy="34290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TextBox 172"/>
          <p:cNvSpPr txBox="1"/>
          <p:nvPr/>
        </p:nvSpPr>
        <p:spPr>
          <a:xfrm>
            <a:off x="3364992" y="1353312"/>
            <a:ext cx="2414016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Feasibility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364992" y="1847088"/>
            <a:ext cx="2395728" cy="2743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Deployed on Cloud Run with Cloud SQL; 8 of 12 evaluation cases run end to end with Gemini.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Verdicts and reasons are rule code; models draft meanings and write copy.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510 API tests, 46 browser e2e tests and Terraform validation pass.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Built-in cost caps keep the service open through judging.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6035040" y="1234440"/>
            <a:ext cx="2697480" cy="342900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7" name="TextBox 176"/>
          <p:cNvSpPr txBox="1"/>
          <p:nvPr/>
        </p:nvSpPr>
        <p:spPr>
          <a:xfrm>
            <a:off x="6199632" y="1353312"/>
            <a:ext cx="2414016" cy="3474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21826"/>
                </a:solidFill>
                <a:latin typeface="Google Sans Flex"/>
              </a:rPr>
              <a:t>Scalability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199632" y="1847088"/>
            <a:ext cx="2395728" cy="2743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Collect globally, serve per market: a new region is a filter change plus data.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Heavy AI work is batched once and reused by every user.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Stateless Cloud Run services scale to zero and back out.</a:t>
            </a:r>
          </a:p>
          <a:p>
            <a:pPr algn="l" marL="146304" indent="-146304">
              <a:spcAft>
                <a:spcPts val="900"/>
              </a:spcAft>
              <a:buClr>
                <a:srgbClr val="5F6368"/>
              </a:buClr>
              <a:buFont typeface="Arial"/>
              <a:buChar char="•"/>
            </a:pPr>
            <a:r>
              <a:rPr sz="1100" b="0" i="0">
                <a:solidFill>
                  <a:srgbClr val="121826"/>
                </a:solidFill>
                <a:latin typeface="Google Sans Flex"/>
              </a:rPr>
              <a:t>The same evidence dictionary can feed other content tools via the API.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