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Fill in the team name and leader before export.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Wireframe of the implemented Recommend → Create screen. Replace with a real screenshot if space allows.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Replace each placeholder with a screenshot of the deployed service using the final snapshot data.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Before submission: confirm the Trend web and API are deployed on Cloud Run with Cloud SQL (Plan 05), then fill in the product URL and the demo video link.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300" b="0">
                <a:solidFill>
                  <a:srgbClr val="202124"/>
                </a:solidFill>
                <a:latin typeface="Google Sans Flex"/>
              </a:rPr>
              <a:t> COPYBARA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300" b="0">
                <a:solidFill>
                  <a:srgbClr val="202124"/>
                </a:solidFill>
                <a:latin typeface="Google Sans Flex"/>
              </a:rPr>
              <a:t> TBD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 Media, Content &amp; Digital Experiences — brand marketers and short-form creators in JAPAC cannot tell whether a trending meme is still alive, safe for a brand, or how to use it in their own market.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" y="1115568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A73E8"/>
                </a:solidFill>
                <a:latin typeface="Google Sans Flex"/>
              </a:rPr>
              <a:t>Trend Interpreter </a:t>
            </a:r>
            <a:r>
              <a:rPr sz="1350" b="0" i="0">
                <a:solidFill>
                  <a:srgbClr val="202124"/>
                </a:solidFill>
                <a:latin typeface="Google Sans Flex"/>
              </a:rPr>
              <a:t>tells brand marketers and short-form creators which memes are in use in each JAPAC market, which to avoid, and turns a chosen meme into ready-to-shoot content — with a source behind every claim.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19385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The problem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224028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7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Memes cross borders in days, and their meaning often shifts by country and by generation.</a:t>
            </a:r>
          </a:p>
          <a:p>
            <a:pPr algn="l" marL="146304" indent="-146304">
              <a:spcAft>
                <a:spcPts val="7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A stale or misread meme in a brand post is public, and hard to take back.</a:t>
            </a:r>
          </a:p>
          <a:p>
            <a:pPr algn="l" marL="146304" indent="-146304">
              <a:spcAft>
                <a:spcPts val="7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Social listening shows volume and meme wikis show meaning — neither answers “can my brand use this here, now?”</a:t>
            </a:r>
          </a:p>
          <a:p>
            <a:pPr algn="l" marL="146304" indent="-146304">
              <a:spcAft>
                <a:spcPts val="7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Creators still have to turn that insight into a script by hand.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0" y="1938528"/>
            <a:ext cx="4206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4718304" y="2167128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57216" y="2029968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Explore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57216" y="2286000"/>
            <a:ext cx="35204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Pick target markets → keyword dashboard with lifecycle, spread and risk per meme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0" y="2825496"/>
            <a:ext cx="4206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4718304" y="3054096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57216" y="2916936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Recommend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57216" y="3172968"/>
            <a:ext cx="35204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Upload a product photo or promo copy → up to 5 fitting memes, each with its evidence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0" y="3712464"/>
            <a:ext cx="4206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4718304" y="3941064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57216" y="3803904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Create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57216" y="4059936"/>
            <a:ext cx="35204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Pick one → SNS copy, a 15–30 s short-form script and a thumbnail plan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Theme: Media, Content &amp; Digital Experiences  ·  Target markets: KR, JP, TW, HK, TH, VN, ID, PH, MY, SG  ·  Collected globally, served per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1234440"/>
            <a:ext cx="26974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530352" y="1389888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8" y="13716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How is it different?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1874519"/>
            <a:ext cx="2359152" cy="2697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Today each tool answers one question: social listening counts mentions, meme wikis explain meaning, trend tools rank searches.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Trend Interpreter joins meaning, lifespan, brand risk and per-country usage into one verdict — and goes on to write the content.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400" y="1234440"/>
            <a:ext cx="26974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364992" y="1389888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67328" y="13716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How does it solve the problem?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1874519"/>
            <a:ext cx="2359152" cy="2697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A batch pipeline collects public signals and verifies each meaning against reference documents.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Rule code — not the LLM — sets lifecycle and risk from evidence. At request time Gemini reads the product and writes copy bound to the verified meaning.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035040" y="1234440"/>
            <a:ext cx="26974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6199632" y="1389888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01968" y="13716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USP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17920" y="1874519"/>
            <a:ext cx="2359152" cy="2697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1000"/>
              </a:spcAft>
              <a:buClr>
                <a:srgbClr val="5F6368"/>
              </a:buClr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Evidence first: no source, no claim</a:t>
            </a:r>
          </a:p>
          <a:p>
            <a:pPr algn="l" marL="146304" indent="-146304">
              <a:spcAft>
                <a:spcPts val="1000"/>
              </a:spcAft>
              <a:buClr>
                <a:srgbClr val="5F6368"/>
              </a:buClr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The model never marks a meme “safe” on its own</a:t>
            </a:r>
          </a:p>
          <a:p>
            <a:pPr algn="l" marL="146304" indent="-146304">
              <a:spcAft>
                <a:spcPts val="1000"/>
              </a:spcAft>
              <a:buClr>
                <a:srgbClr val="5F6368"/>
              </a:buClr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10 JAPAC markets, collected globally</a:t>
            </a:r>
          </a:p>
          <a:p>
            <a:pPr algn="l" marL="146304" indent="-146304">
              <a:spcAft>
                <a:spcPts val="1000"/>
              </a:spcAft>
              <a:buClr>
                <a:srgbClr val="5F6368"/>
              </a:buClr>
              <a:buFont typeface="Arial"/>
              <a:buChar char="•"/>
            </a:pPr>
            <a:r>
              <a:rPr sz="1150" b="0" i="0">
                <a:solidFill>
                  <a:srgbClr val="202124"/>
                </a:solidFill>
                <a:latin typeface="Google Sans Flex"/>
              </a:rPr>
              <a:t>From trend insight to a ready script in one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11887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512064" y="1335024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2688" y="1344168"/>
            <a:ext cx="19842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Regional keyword dashboard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0352" y="1755648"/>
            <a:ext cx="236829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Memes in use, fading, or needing caution for the chosen markets — 12-week mentions, search signals, lifecycle and spread stage.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0" y="11887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3346704" y="1335024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67328" y="1344168"/>
            <a:ext cx="19842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Photo / copy → meme picks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64992" y="1755648"/>
            <a:ext cx="236829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Gemini reads a product photo or promo copy; rules rank memes by fit, tone, lifecycle and risk; up to 5 with reasons and sources.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35040" y="11887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6181344" y="1335024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01968" y="1344168"/>
            <a:ext cx="19842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Content generation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99632" y="1755648"/>
            <a:ext cx="236829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Instagram and X copy (up to 2 variants each), a 15–30 s short-form script and a thumbnail plan in the market’s language, checked against the dictionary.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5760" y="297180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512064" y="3118104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2688" y="3127248"/>
            <a:ext cx="19842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Evidence-backed meme dictionary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0352" y="3538728"/>
            <a:ext cx="236829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Versioned meanings. Auto-listed only with a reference document (Namuwiki, Wikipedia, Know Your Meme…); otherwise a human reviews.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00400" y="297180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346704" y="3118104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67328" y="3127248"/>
            <a:ext cx="19842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Brand-risk levels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64992" y="3538728"/>
            <a:ext cx="236829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None · Caution · Avoid · Not enough evidence — derived from classified evidence; reviewers can override in the admin console.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035040" y="297180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181344" y="3118104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01968" y="3127248"/>
            <a:ext cx="19842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Cross-country &amp; generation view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99632" y="3538728"/>
            <a:ext cx="236829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A world map of how one meme differs by country, and a message interpreter that explains slang to another generation or culture.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65760" y="10972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F6368"/>
                </a:solidFill>
                <a:latin typeface="Google Sans Flex"/>
              </a:rPr>
              <a:t>At request time — one flow, at most one Gemini call per step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14173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530352" y="1527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73E8"/>
                </a:solidFill>
                <a:latin typeface="Google Sans Flex"/>
              </a:rPr>
              <a:t>1  Explore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0352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Google Sans Flex"/>
              </a:rPr>
              <a:t>Choose markets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352" y="212140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Reads published keyword cards.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No model call.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962656" y="2331720"/>
            <a:ext cx="24688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3246120" y="14173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410712" y="1527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D93025"/>
                </a:solidFill>
                <a:latin typeface="Google Sans Flex"/>
              </a:rPr>
              <a:t>2  Recommend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10712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Google Sans Flex"/>
              </a:rPr>
              <a:t>Photo or promo copy + tone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10712" y="212140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Gemini: photo/copy → product brief.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Rules score fit, tone, lifecycle, risk → up to 5 with stored reasons.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843016" y="2331720"/>
            <a:ext cx="24688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6126480" y="14173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291072" y="1527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37400"/>
                </a:solidFill>
                <a:latin typeface="Google Sans Flex"/>
              </a:rPr>
              <a:t>3  Create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91072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Google Sans Flex"/>
              </a:rPr>
              <a:t>Pick one meme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91072" y="212140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Gemini: one structured call → copy, script, thumbnail.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Rule check vs. meaning &amp; risk; one retry, failing variant dropped.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342900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F6368"/>
                </a:solidFill>
                <a:latin typeface="Google Sans Flex"/>
              </a:rPr>
              <a:t>Before requests — batch pipeline on the collection server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65760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65760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Collect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408176" y="4078224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1572768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572768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Classify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(Gemma)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615184" y="4078224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2779776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2779776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Research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(Gemini + Search)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3822191" y="4078224"/>
            <a:ext cx="146305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3986784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3986784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Verify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(rules)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5029200" y="4078224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5193792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5193792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Lifecycle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(rules)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236208" y="4078224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6400800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6400800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Risk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(Gemma + rules)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443216" y="4078224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7607808" y="3749039"/>
            <a:ext cx="1024128" cy="658368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7607808" y="3749039"/>
            <a:ext cx="1024128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Publish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Every recommendation and generated item carries its sources and observation time. Human reviewers can override meanings and risk levels; automated runs never overwrite a human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65760" y="1143000"/>
            <a:ext cx="841248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ounded Rectangle 104"/>
          <p:cNvSpPr/>
          <p:nvPr/>
        </p:nvSpPr>
        <p:spPr>
          <a:xfrm>
            <a:off x="365760" y="1143000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475488" y="1234440"/>
            <a:ext cx="91440" cy="9144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621792" y="1234440"/>
            <a:ext cx="91440" cy="91440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768096" y="1234440"/>
            <a:ext cx="91440" cy="9144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005840" y="1161288"/>
            <a:ext cx="36576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trend-interpreter  /recommend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1554480"/>
            <a:ext cx="2468880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685800" y="162763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02124"/>
                </a:solidFill>
                <a:latin typeface="Google Sans Flex"/>
              </a:rPr>
              <a:t>Your product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5800" y="1901952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685800" y="1901952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Drop a photo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JPEG · PNG · WebP, ≤ 5 MB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85800" y="2852928"/>
            <a:ext cx="219456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777240" y="2852928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or promo copy (≤ 500 chars)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3310128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02124"/>
                </a:solidFill>
                <a:latin typeface="Google Sans Flex"/>
              </a:rPr>
              <a:t>Markets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85800" y="3538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85800" y="3538728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202124"/>
                </a:solidFill>
                <a:latin typeface="Google Sans Flex"/>
              </a:rPr>
              <a:t>KR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16152" y="3538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216152" y="3538728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202124"/>
                </a:solidFill>
                <a:latin typeface="Google Sans Flex"/>
              </a:rPr>
              <a:t>JP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746504" y="3538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746504" y="3538728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202124"/>
                </a:solidFill>
                <a:latin typeface="Google Sans Flex"/>
              </a:rPr>
              <a:t>TW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276856" y="3538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276856" y="3538728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202124"/>
                </a:solidFill>
                <a:latin typeface="Google Sans Flex"/>
              </a:rPr>
              <a:t>TH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3822191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Tone: friendly · witty · premium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85800" y="4096512"/>
            <a:ext cx="2194560" cy="329184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685800" y="4096512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Google Sans Flex"/>
              </a:rPr>
              <a:t>Recommend memes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00400" y="155448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02124"/>
                </a:solidFill>
                <a:latin typeface="Google Sans Flex"/>
              </a:rPr>
              <a:t>Recommended memes for “iced brown-sugar latte” · KR, JP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00400" y="1847088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</a:rPr>
              <a:t>Meme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60520" y="184708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</a:rPr>
              <a:t>Meaning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23560" y="184708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</a:rPr>
              <a:t>Spread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55080" y="184708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</a:rPr>
              <a:t>Risk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0" y="1847088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F6368"/>
                </a:solidFill>
                <a:latin typeface="Google Sans Flex"/>
              </a:rPr>
              <a:t>Why it fits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200400" y="2084831"/>
            <a:ext cx="5394960" cy="256032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ounded Rectangle 134"/>
          <p:cNvSpPr/>
          <p:nvPr/>
        </p:nvSpPr>
        <p:spPr>
          <a:xfrm>
            <a:off x="3246120" y="2176272"/>
            <a:ext cx="64008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ounded Rectangle 135"/>
          <p:cNvSpPr/>
          <p:nvPr/>
        </p:nvSpPr>
        <p:spPr>
          <a:xfrm>
            <a:off x="4206240" y="2176272"/>
            <a:ext cx="1133856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ounded Rectangle 136"/>
          <p:cNvSpPr/>
          <p:nvPr/>
        </p:nvSpPr>
        <p:spPr>
          <a:xfrm>
            <a:off x="5669280" y="2176272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ounded Rectangle 137"/>
          <p:cNvSpPr/>
          <p:nvPr/>
        </p:nvSpPr>
        <p:spPr>
          <a:xfrm>
            <a:off x="6355080" y="2130551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6355080" y="2130551"/>
            <a:ext cx="5669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Google Sans Flex"/>
              </a:rPr>
              <a:t>None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086600" y="2176272"/>
            <a:ext cx="1243584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ounded Rectangle 140"/>
          <p:cNvSpPr/>
          <p:nvPr/>
        </p:nvSpPr>
        <p:spPr>
          <a:xfrm>
            <a:off x="3200400" y="2386584"/>
            <a:ext cx="5394960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ounded Rectangle 141"/>
          <p:cNvSpPr/>
          <p:nvPr/>
        </p:nvSpPr>
        <p:spPr>
          <a:xfrm>
            <a:off x="3246120" y="2478024"/>
            <a:ext cx="64008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ounded Rectangle 142"/>
          <p:cNvSpPr/>
          <p:nvPr/>
        </p:nvSpPr>
        <p:spPr>
          <a:xfrm>
            <a:off x="4206240" y="2478024"/>
            <a:ext cx="1133856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ounded Rectangle 143"/>
          <p:cNvSpPr/>
          <p:nvPr/>
        </p:nvSpPr>
        <p:spPr>
          <a:xfrm>
            <a:off x="5669280" y="2478024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ounded Rectangle 144"/>
          <p:cNvSpPr/>
          <p:nvPr/>
        </p:nvSpPr>
        <p:spPr>
          <a:xfrm>
            <a:off x="6355080" y="2432303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6355080" y="2432303"/>
            <a:ext cx="5669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Google Sans Flex"/>
              </a:rPr>
              <a:t>None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086600" y="2478024"/>
            <a:ext cx="1243584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ounded Rectangle 147"/>
          <p:cNvSpPr/>
          <p:nvPr/>
        </p:nvSpPr>
        <p:spPr>
          <a:xfrm>
            <a:off x="3200400" y="2688336"/>
            <a:ext cx="5394960" cy="256032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3246120" y="2779776"/>
            <a:ext cx="64008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ounded Rectangle 149"/>
          <p:cNvSpPr/>
          <p:nvPr/>
        </p:nvSpPr>
        <p:spPr>
          <a:xfrm>
            <a:off x="4206240" y="2779776"/>
            <a:ext cx="1133856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ounded Rectangle 150"/>
          <p:cNvSpPr/>
          <p:nvPr/>
        </p:nvSpPr>
        <p:spPr>
          <a:xfrm>
            <a:off x="5669280" y="2779776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ounded Rectangle 151"/>
          <p:cNvSpPr/>
          <p:nvPr/>
        </p:nvSpPr>
        <p:spPr>
          <a:xfrm>
            <a:off x="6355080" y="2734056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6355080" y="2734056"/>
            <a:ext cx="5669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Google Sans Flex"/>
              </a:rPr>
              <a:t>Caution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086600" y="2779776"/>
            <a:ext cx="1243584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ounded Rectangle 154"/>
          <p:cNvSpPr/>
          <p:nvPr/>
        </p:nvSpPr>
        <p:spPr>
          <a:xfrm>
            <a:off x="3200400" y="2990087"/>
            <a:ext cx="5394960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ounded Rectangle 155"/>
          <p:cNvSpPr/>
          <p:nvPr/>
        </p:nvSpPr>
        <p:spPr>
          <a:xfrm>
            <a:off x="3246120" y="3081527"/>
            <a:ext cx="64008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ounded Rectangle 156"/>
          <p:cNvSpPr/>
          <p:nvPr/>
        </p:nvSpPr>
        <p:spPr>
          <a:xfrm>
            <a:off x="4206240" y="3081527"/>
            <a:ext cx="1133856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ounded Rectangle 157"/>
          <p:cNvSpPr/>
          <p:nvPr/>
        </p:nvSpPr>
        <p:spPr>
          <a:xfrm>
            <a:off x="5669280" y="3081527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ounded Rectangle 158"/>
          <p:cNvSpPr/>
          <p:nvPr/>
        </p:nvSpPr>
        <p:spPr>
          <a:xfrm>
            <a:off x="6355080" y="3035807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6355080" y="3035807"/>
            <a:ext cx="5669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Google Sans Flex"/>
              </a:rPr>
              <a:t>None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086600" y="3081527"/>
            <a:ext cx="1243584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ounded Rectangle 161"/>
          <p:cNvSpPr/>
          <p:nvPr/>
        </p:nvSpPr>
        <p:spPr>
          <a:xfrm>
            <a:off x="3200400" y="3291839"/>
            <a:ext cx="5394960" cy="256032"/>
          </a:xfrm>
          <a:prstGeom prst="roundRect">
            <a:avLst>
              <a:gd name="adj" fmla="val 1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ounded Rectangle 162"/>
          <p:cNvSpPr/>
          <p:nvPr/>
        </p:nvSpPr>
        <p:spPr>
          <a:xfrm>
            <a:off x="3246120" y="3383279"/>
            <a:ext cx="64008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ounded Rectangle 163"/>
          <p:cNvSpPr/>
          <p:nvPr/>
        </p:nvSpPr>
        <p:spPr>
          <a:xfrm>
            <a:off x="4206240" y="3383279"/>
            <a:ext cx="1133856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ounded Rectangle 164"/>
          <p:cNvSpPr/>
          <p:nvPr/>
        </p:nvSpPr>
        <p:spPr>
          <a:xfrm>
            <a:off x="5669280" y="3383279"/>
            <a:ext cx="548640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ounded Rectangle 165"/>
          <p:cNvSpPr/>
          <p:nvPr/>
        </p:nvSpPr>
        <p:spPr>
          <a:xfrm>
            <a:off x="6355080" y="3337559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6355080" y="3337559"/>
            <a:ext cx="5669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Google Sans Flex"/>
              </a:rPr>
              <a:t>No data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086600" y="3383279"/>
            <a:ext cx="1243584" cy="73152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ounded Rectangle 168"/>
          <p:cNvSpPr/>
          <p:nvPr/>
        </p:nvSpPr>
        <p:spPr>
          <a:xfrm>
            <a:off x="3200400" y="3657600"/>
            <a:ext cx="1298448" cy="274320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3200400" y="365760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</a:rPr>
              <a:t>SNS copy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572000" y="3657600"/>
            <a:ext cx="1298448" cy="27432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4572000" y="365760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Google Sans Flex"/>
              </a:rPr>
              <a:t>Short-form script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943600" y="3657600"/>
            <a:ext cx="1298448" cy="274320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5943600" y="365760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</a:rPr>
              <a:t>Thumbnail plan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200400" y="398678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3310128" y="4023360"/>
            <a:ext cx="52120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Scene 1 · 0–3 s   On screen · Caption · Line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Scene 2 · 3–8 s   …   [Copy]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65760" y="1143000"/>
            <a:ext cx="19659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502920" y="1216152"/>
            <a:ext cx="169163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02124"/>
                </a:solidFill>
                <a:latin typeface="Google Sans Flex"/>
              </a:rPr>
              <a:t>Public data sources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514600" y="1143000"/>
            <a:ext cx="2971800" cy="356616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2651760" y="1216152"/>
            <a:ext cx="26974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02124"/>
                </a:solidFill>
                <a:latin typeface="Google Sans Flex"/>
              </a:rPr>
              <a:t>Collection server — batch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669280" y="1143000"/>
            <a:ext cx="31089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5806440" y="121615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02124"/>
                </a:solidFill>
                <a:latin typeface="Google Sans Flex"/>
              </a:rPr>
              <a:t>Google Cloud — serving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02920" y="155448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548640" y="1554480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YouTube Data API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2920" y="1993391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48640" y="1993391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Google Trends (BigQuery)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02920" y="2432304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548640" y="2432304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Google News RSS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0" y="2871215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548640" y="2871215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Naver DataLab · Search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" y="331012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548640" y="3310128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Wikipedia · Wiktionary · Namuwiki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02920" y="3749039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48640" y="3749039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GDELT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2920" y="418795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548640" y="4187952"/>
            <a:ext cx="1600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Community forums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(usage signal only)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240280" y="2926080"/>
            <a:ext cx="246888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2651760" y="155448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2743200" y="1591056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</a:rPr>
              <a:t>Pipeline + ADK agent team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02124"/>
                </a:solidFill>
                <a:latin typeface="Google Sans Flex"/>
              </a:rPr>
              <a:t>collect → classify → interpret → research → verify → track → risk → fit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651760" y="2514600"/>
            <a:ext cx="129844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2715768" y="2551176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800" b="1" i="0">
                <a:solidFill>
                  <a:srgbClr val="188038"/>
                </a:solidFill>
                <a:latin typeface="Google Sans Flex"/>
              </a:rPr>
              <a:t>Gemma 4 12B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local · Ollama · Kaggle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classify, translate, label evidence, fit tags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050791" y="2514600"/>
            <a:ext cx="129844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4114800" y="2551176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800" b="1" i="0">
                <a:solidFill>
                  <a:srgbClr val="1A73E8"/>
                </a:solidFill>
                <a:latin typeface="Google Sans Flex"/>
              </a:rPr>
              <a:t>Gemini · Vertex AI</a:t>
            </a:r>
          </a:p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Shorts video interpretation, Search-grounded research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651760" y="35661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2651760" y="3566160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02124"/>
                </a:solidFill>
                <a:latin typeface="Google Sans Flex"/>
              </a:rPr>
              <a:t>PostgreSQL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</a:rPr>
              <a:t>drafts · evidence · review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51760" y="4096512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5F6368"/>
                </a:solidFill>
                <a:latin typeface="Google Sans Flex"/>
              </a:rPr>
              <a:t>Only verified, reviewed entries are published to Cloud SQL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5367528" y="3794760"/>
            <a:ext cx="192938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669280" y="3566160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750" b="0" i="0">
                <a:solidFill>
                  <a:srgbClr val="5F6368"/>
                </a:solidFill>
                <a:latin typeface="Google Sans Flex"/>
              </a:rPr>
              <a:t>publish verified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806440" y="1572768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806440" y="1572768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</a:rPr>
              <a:t>User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browser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315200" y="1572768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7315200" y="1572768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</a:rPr>
              <a:t>Cloud Run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Web · Next.js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315200" y="2395728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7315200" y="2395728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</a:rPr>
              <a:t>Cloud Run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API · FastAPI (private)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806440" y="2395728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5806440" y="2395728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A73E8"/>
                </a:solidFill>
                <a:latin typeface="Google Sans Flex"/>
              </a:rPr>
              <a:t>Vertex AI Gemini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product brief, content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315200" y="3511296"/>
            <a:ext cx="13258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7315200" y="3511296"/>
            <a:ext cx="13258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02124"/>
                </a:solidFill>
                <a:latin typeface="Google Sans Flex"/>
              </a:rPr>
              <a:t>Cloud SQL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02124"/>
                </a:solidFill>
                <a:latin typeface="Google Sans Flex"/>
              </a:rPr>
              <a:t>PostgreSQL · published data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7150608" y="1856231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973568" y="2157984"/>
            <a:ext cx="0" cy="219456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7150608" y="2679192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973568" y="2980944"/>
            <a:ext cx="0" cy="512064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5806440" y="4169663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750" b="1" i="0">
                <a:solidFill>
                  <a:srgbClr val="202124"/>
                </a:solidFill>
                <a:latin typeface="Google Sans Flex"/>
              </a:rPr>
              <a:t>Ops</a:t>
            </a:r>
          </a:p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202124"/>
                </a:solidFill>
                <a:latin typeface="Google Sans Flex"/>
              </a:rPr>
              <a:t>Secret Manager · Artifact Registry · Cloud Monitoring → Pub/Sub → alert relay (Cloud Run) · Terraform · GitHub Actions via Workload Identity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1188720"/>
            <a:ext cx="199339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502920" y="1316736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129844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Generative 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1208" y="1755648"/>
            <a:ext cx="173736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1" i="0">
                <a:solidFill>
                  <a:srgbClr val="202124"/>
                </a:solidFill>
                <a:latin typeface="Google Sans Flex"/>
              </a:rPr>
              <a:t>Gemini 3.8 Flash on Vertex AI</a:t>
            </a:r>
            <a:r>
              <a:rPr sz="950" b="0" i="0">
                <a:solidFill>
                  <a:srgbClr val="202124"/>
                </a:solidFill>
                <a:latin typeface="Google Sans Flex"/>
              </a:rPr>
              <a:t> — video interpretation, Search grounding, photo understanding, content generation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1" i="0">
                <a:solidFill>
                  <a:srgbClr val="202124"/>
                </a:solidFill>
                <a:latin typeface="Google Sans Flex"/>
              </a:rPr>
              <a:t>Gemma 4 12B</a:t>
            </a:r>
            <a:r>
              <a:rPr sz="950" b="0" i="0">
                <a:solidFill>
                  <a:srgbClr val="202124"/>
                </a:solidFill>
                <a:latin typeface="Google Sans Flex"/>
              </a:rPr>
              <a:t> (local, Kaggle, on-demand L4 VM) — classification, translation, evidence labeling, live re-checks for reviewers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1" i="0">
                <a:solidFill>
                  <a:srgbClr val="202124"/>
                </a:solidFill>
                <a:latin typeface="Google Sans Flex"/>
              </a:rPr>
              <a:t>Google ADK</a:t>
            </a:r>
            <a:r>
              <a:rPr sz="950" b="0" i="0">
                <a:solidFill>
                  <a:srgbClr val="202124"/>
                </a:solidFill>
                <a:latin typeface="Google Sans Flex"/>
              </a:rPr>
              <a:t> — pipeline agent team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496312" y="1188720"/>
            <a:ext cx="199339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2633472" y="1316736"/>
            <a:ext cx="292608" cy="292608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99232" y="129844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Google Cloud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51760" y="1755648"/>
            <a:ext cx="173736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Cloud Run (web, API, alert relay)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Cloud SQL for PostgreSQL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Vertex AI · Compute Engine L4 GPU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Secret Manager · Artifact Registry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Pub/Sub · Cloud Monitoring &amp; Logging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Workload Identity Federation · Terraform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626864" y="1188720"/>
            <a:ext cx="199339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4764024" y="1316736"/>
            <a:ext cx="292608" cy="292608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29784" y="129844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Application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82312" y="1755648"/>
            <a:ext cx="173736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Next.js 16 · React 19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FastAPI · Python 3.12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PostgreSQL, numbered migrations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Docker Compose dev stack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Pytest · Playwright e2e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GitHub Actions CI / release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757416" y="1188720"/>
            <a:ext cx="199339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6894576" y="1316736"/>
            <a:ext cx="292608" cy="292608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260336" y="129844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Data sources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12864" y="1755648"/>
            <a:ext cx="173736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YouTube Data API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Google Trends (BigQuery)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Google News RSS · GDELT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Naver DataLab · Search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Wikipedia · Wiktionary · Namuwiki</a:t>
            </a:r>
          </a:p>
          <a:p>
            <a:pPr algn="l" marL="146304" indent="-146304">
              <a:spcAft>
                <a:spcPts val="600"/>
              </a:spcAft>
              <a:buClr>
                <a:srgbClr val="5F6368"/>
              </a:buClr>
              <a:buFont typeface="Arial"/>
              <a:buChar char="•"/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Community forums (counts only)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Firebase / Firestore are not used: the dictionary is relational and versioned (meanings, evidence, reviews), so it lives in Cloud SQL for PostgreSQL.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11887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48640" y="126187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A73E8"/>
                </a:solidFill>
                <a:latin typeface="Google Sans Flex"/>
              </a:rPr>
              <a:t>$0.0015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" y="1901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Google Sans Flex"/>
              </a:rPr>
              <a:t>per request-time Gemini call*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200400" y="11887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3383280" y="126187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D93025"/>
                </a:solidFill>
                <a:latin typeface="Google Sans Flex"/>
              </a:rPr>
              <a:t>≈ $15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83280" y="1901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Google Sans Flex"/>
              </a:rPr>
              <a:t>per 10,000 Gemini calls*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35040" y="11887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6217920" y="126187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E37400"/>
                </a:solidFill>
                <a:latin typeface="Google Sans Flex"/>
              </a:rPr>
              <a:t>$0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1901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368"/>
                </a:solidFill>
                <a:latin typeface="Google Sans Flex"/>
              </a:rPr>
              <a:t>always-on GPU — Gemma runs in the batch; an L4 VM starts only for reviewer demos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5760" y="260604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Cost guards built 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5760" y="2907792"/>
            <a:ext cx="41148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Gemini daily call cap recorded in the database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Per-instance request limit (20 / min) on recommend &amp; create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Cloud Run scales to zero; monthly Cloud Run spend limit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50" b="0" i="0">
                <a:solidFill>
                  <a:srgbClr val="202124"/>
                </a:solidFill>
                <a:latin typeface="Google Sans Flex"/>
              </a:rPr>
              <a:t>One Gemini call per request step; heavy work is batched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63440" y="260604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Design choice that avoided the biggest cost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663440" y="290779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4828032" y="2980944"/>
            <a:ext cx="379476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02124"/>
                </a:solidFill>
                <a:latin typeface="Google Sans Flex"/>
              </a:rPr>
              <a:t>Always-on Cloud Run L4 GPU for Gemma: </a:t>
            </a:r>
            <a:r>
              <a:rPr sz="1000" b="0" i="0">
                <a:solidFill>
                  <a:srgbClr val="202124"/>
                </a:solidFill>
                <a:latin typeface="Google Sans Flex"/>
              </a:rPr>
              <a:t>≈ $753 / month (720 h, Tier-1 list price, excluding free tier).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We run Gemma 4 in the batch pipeline and on an L4 VM that is started only when needed, and keep request-time AI on Gemini, so serving cost follows usage.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F6368"/>
                </a:solidFill>
                <a:latin typeface="Google Sans Flex"/>
              </a:rPr>
              <a:t>*List-price estimate for gemini-3.8-flash (Vertex AI global standard, through 2026-12-31), 1,000 input + 200 output tokens; excludes thinking tokens, grounding, caching and taxes. Cloud SQL (smallest shared-core tier): [confirm from Billing].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365760" y="1143000"/>
            <a:ext cx="41148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65760" y="1143000"/>
            <a:ext cx="4114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Google Sans Flex"/>
              </a:rPr>
              <a:t>[Screenshot]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5760" y="2606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Keyword dashboard — memes in use, fading, caution (/trends)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617720" y="1143000"/>
            <a:ext cx="41148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4617720" y="1143000"/>
            <a:ext cx="4114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Google Sans Flex"/>
              </a:rPr>
              <a:t>[Screenshot]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17720" y="2606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Recommend — photo or copy → up to 5 memes (/recommend)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65760" y="2953512"/>
            <a:ext cx="41148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365760" y="2953512"/>
            <a:ext cx="4114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Google Sans Flex"/>
              </a:rPr>
              <a:t>[Screenshot]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44165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Create — SNS copy, short-form script, thumbnail plan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17720" y="2953512"/>
            <a:ext cx="41148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617720" y="2953512"/>
            <a:ext cx="4114800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368"/>
                </a:solidFill>
                <a:latin typeface="Google Sans Flex"/>
              </a:rPr>
              <a:t>[Screenshot]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17720" y="44165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02124"/>
                </a:solidFill>
                <a:latin typeface="Google Sans Flex"/>
              </a:rPr>
              <a:t>Dictionary entry — meaning, spread, risk and 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11430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02920" y="1207008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A73E8"/>
                </a:solidFill>
                <a:latin typeface="Google Sans Flex"/>
              </a:rPr>
              <a:t>40% → 91%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1755648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Picks that fit the product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same 12 cases, round 4 → 9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496312" y="11430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633472" y="1207008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3025"/>
                </a:solidFill>
                <a:latin typeface="Google Sans Flex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33472" y="1755648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Risky picks shown as “no issue”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round 9 · was 2 in round 8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26864" y="11430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4764024" y="1207008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37400"/>
                </a:solidFill>
                <a:latin typeface="Google Sans Flex"/>
              </a:rPr>
              <a:t>6.6 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64024" y="1755648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Recommend latency, p50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max 14.1 s · Gemini on Vertex AI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757416" y="11430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6894576" y="1207008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88038"/>
                </a:solidFill>
                <a:latin typeface="Google Sans Flex"/>
              </a:rPr>
              <a:t>16.3 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894576" y="1755648"/>
            <a:ext cx="17830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Create latency, p50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5F6368"/>
                </a:solidFill>
                <a:latin typeface="Google Sans Flex"/>
              </a:rPr>
              <a:t>max 27.9 s · one structured call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65760" y="263347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What nine rounds on the same 12 cases taught us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Copy introduced the meme by name (“like …”) → now forbidden and re-checked; usability 2.0 → 2.50 / 3.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Generic words and site names were picked as memes → removed by reviewers; usage words fixed by a person for 56 of 170 candidates.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A data refresh added unjudged candidates and fit fell to 67% → 36 candidates got a human risk decision.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63440" y="2633472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02124"/>
                </a:solidFill>
                <a:latin typeface="Google Sans Flex"/>
              </a:rPr>
              <a:t>Method and limits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63440" y="2926080"/>
            <a:ext cx="41148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12 cases = Korea, Japan, English-language × cosmetics, drink, running shoes, budgeting app.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Measured 2026-10-09–10 with request-time Gemini on a read-only copy of production data.</a:t>
            </a:r>
          </a:p>
          <a:p>
            <a:pPr algn="l" marL="146304" indent="-146304">
              <a:spcAft>
                <a:spcPts val="500"/>
              </a:spcAft>
              <a:buClr>
                <a:srgbClr val="5F6368"/>
              </a:buClr>
              <a:buFont typeface="Arial"/>
              <a:buChar char="•"/>
            </a:pPr>
            <a:r>
              <a:rPr sz="1000" b="0" i="0">
                <a:solidFill>
                  <a:srgbClr val="202124"/>
                </a:solidFill>
                <a:latin typeface="Google Sans Flex"/>
              </a:rPr>
              <a:t>Judgments are AI drafts reviewed by one team member; 4 of 12 cases get no pick (mostly Japan).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11887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530352" y="132588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32688" y="130759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Before submission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48640" y="1828800"/>
            <a:ext cx="237744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Final dictionary refresh, then re-measure the 12 cases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Show Gemma classifying live on the L4 VM in the demo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More Japanese candidates: 3 of 4 products get no pick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Human labels for list-filter precision and recall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Cross-check every entry against reference docs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200400" y="11887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3364992" y="1325880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767328" y="130759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Next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83280" y="1828800"/>
            <a:ext cx="237744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Term relation graph: derived memes link to the original meaning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Model-based nuance check, only if evaluation shows rules miss it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Team review workflow with decision history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35040" y="11887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6199632" y="1325880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601968" y="130759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Later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217920" y="1828800"/>
            <a:ext cx="2377440" cy="2468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Link memes to songs, dances and formats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New regions by changing the region filter</a:t>
            </a:r>
          </a:p>
          <a:p>
            <a:pPr algn="l" marL="146304" indent="-146304">
              <a:spcAft>
                <a:spcPts val="8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Brand-specific avoid lists and shared workspaces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>
                <a:solidFill>
                  <a:srgbClr val="1A73E8"/>
                </a:solidFill>
                <a:latin typeface="Google Sans Flex"/>
              </a:rPr>
              <a:t>:  https://github.com/Sihyeon-Ji/2026-google-ai-builder-cup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>
                <a:solidFill>
                  <a:srgbClr val="5F6368"/>
                </a:solidFill>
                <a:latin typeface="Google Sans Flex"/>
              </a:rPr>
              <a:t>:  [YouTube / Vimeo / Drive link — under 3 minutes]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>
                <a:solidFill>
                  <a:srgbClr val="5F6368"/>
                </a:solidFill>
                <a:latin typeface="Google Sans Flex"/>
              </a:rPr>
              <a:t>:  [Cloud Run URL]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65760" y="2103120"/>
            <a:ext cx="84124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48640" y="221284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Brief description — how we use Google Cloud and Gemini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" y="2560320"/>
            <a:ext cx="804672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202124"/>
                </a:solidFill>
                <a:latin typeface="Google Sans Flex"/>
              </a:rPr>
              <a:t>Product. </a:t>
            </a:r>
            <a:r>
              <a:rPr sz="1050" b="0" i="0">
                <a:solidFill>
                  <a:srgbClr val="202124"/>
                </a:solidFill>
                <a:latin typeface="Google Sans Flex"/>
              </a:rPr>
              <a:t>Trend Interpreter shows brand marketers and short-form creators which memes are in use in each JAPAC market, which to avoid, and writes ready-to-use copy, scripts and thumbnail plans from a chosen meme, with sources for every claim.</a:t>
            </a:r>
          </a:p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A73E8"/>
                </a:solidFill>
                <a:latin typeface="Google Sans Flex"/>
              </a:rPr>
              <a:t>Gemini (Vertex AI). </a:t>
            </a:r>
            <a:r>
              <a:rPr sz="1050" b="0" i="0">
                <a:solidFill>
                  <a:srgbClr val="202124"/>
                </a:solidFill>
                <a:latin typeface="Google Sans Flex"/>
              </a:rPr>
              <a:t>Reads Shorts videos and runs Search-grounded research in the batch pipeline; at request time it turns a product photo or copy into a structured brief and generates content in one structured call.</a:t>
            </a:r>
          </a:p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88038"/>
                </a:solidFill>
                <a:latin typeface="Google Sans Flex"/>
              </a:rPr>
              <a:t>Cloud Run. </a:t>
            </a:r>
            <a:r>
              <a:rPr sz="1050" b="0" i="0">
                <a:solidFill>
                  <a:srgbClr val="202124"/>
                </a:solidFill>
                <a:latin typeface="Google Sans Flex"/>
              </a:rPr>
              <a:t>Hosts the Next.js web app, the private FastAPI API and the alert relay; data lives in Cloud SQL for PostgreSQL.</a:t>
            </a:r>
          </a:p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5F6368"/>
                </a:solidFill>
                <a:latin typeface="Google Sans Flex"/>
              </a:rPr>
              <a:t>Firebase / Firestore. </a:t>
            </a:r>
            <a:r>
              <a:rPr sz="1050" b="0" i="0">
                <a:solidFill>
                  <a:srgbClr val="202124"/>
                </a:solidFill>
                <a:latin typeface="Google Sans Flex"/>
              </a:rPr>
              <a:t>Not used — the versioned dictionary is relational.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Impact, feasibility and scalability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Rounded Rectangle 166"/>
          <p:cNvSpPr/>
          <p:nvPr/>
        </p:nvSpPr>
        <p:spPr>
          <a:xfrm>
            <a:off x="365760" y="1234440"/>
            <a:ext cx="26974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530352" y="1371600"/>
            <a:ext cx="310896" cy="31089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I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2688" y="135331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Impact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48640" y="1847088"/>
            <a:ext cx="23774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Marketers check lifespan and risk before a meme goes into a public campaign.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Creators go from a product photo to a shootable script in one flow.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Audiences across JAPAC see memes used with the meaning they know.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5F6368"/>
                </a:solidFill>
                <a:latin typeface="Google Sans Flex"/>
              </a:rPr>
              <a:t>Expected benefits — not yet measured with users.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200400" y="1234440"/>
            <a:ext cx="26974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3364992" y="1371600"/>
            <a:ext cx="310896" cy="310896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F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767328" y="135331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Feasibility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383280" y="1847088"/>
            <a:ext cx="23774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The full flow runs end to end locally; 8 of 20 evaluation cases completed on real data.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Verdicts are rule code; the model only writes reasons and copy.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189 API tests, 29 browser e2e tests and Terraform validation pass.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Built-in cost caps keep the service open through judging.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035040" y="1234440"/>
            <a:ext cx="269748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6199632" y="1371600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Google Sans Flex"/>
              </a:rPr>
              <a:t>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601968" y="135331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02124"/>
                </a:solidFill>
                <a:latin typeface="Google Sans Flex"/>
              </a:rPr>
              <a:t>Scalability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217920" y="1847088"/>
            <a:ext cx="237744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Collect globally, serve per market: a new region is a filter change plus data.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Heavy AI work is batched once and reused by every user.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Stateless Cloud Run services scale to zero and back out.</a:t>
            </a:r>
          </a:p>
          <a:p>
            <a:pPr algn="l" marL="146304" indent="-146304">
              <a:spcAft>
                <a:spcPts val="900"/>
              </a:spcAft>
              <a:buClr>
                <a:srgbClr val="5F6368"/>
              </a:buClr>
              <a:buFont typeface="Arial"/>
              <a:buChar char="•"/>
            </a:pPr>
            <a:r>
              <a:rPr sz="1100" b="0" i="0">
                <a:solidFill>
                  <a:srgbClr val="202124"/>
                </a:solidFill>
                <a:latin typeface="Google Sans Flex"/>
              </a:rPr>
              <a:t>The same evidence dictionary can feed other content tools via the API.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