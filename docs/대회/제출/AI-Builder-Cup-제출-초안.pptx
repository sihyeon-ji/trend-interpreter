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Team and leader confirmed (2026-10-11).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Wireframe of the implemented Recommend → Create screen. Replace with a real screenshot if space allows.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Replace each placeholder with a screenshot of the deployed service using the final snapshot data.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Before submission: confirm the Trend web and API are deployed on Cloud Run with Cloud SQL (Plan 05), then fill in the product URL and the demo video link.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r>
              <a:rPr sz="1300" b="0">
                <a:solidFill>
                  <a:srgbClr val="202124"/>
                </a:solidFill>
                <a:latin typeface="Google Sans Flex"/>
              </a:rPr>
              <a:t> COPYBARA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sz="1300" b="0">
                <a:solidFill>
                  <a:srgbClr val="202124"/>
                </a:solidFill>
                <a:latin typeface="Google Sans Flex"/>
              </a:rPr>
              <a:t> Choi Eunji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r>
              <a:rPr sz="1200" b="0">
                <a:solidFill>
                  <a:srgbClr val="202124"/>
                </a:solidFill>
                <a:latin typeface="Google Sans Flex"/>
              </a:rPr>
              <a:t> Media, Content &amp; Digital Experiences — brand marketers and short-form creators in JAPAC cannot tell whether a trending meme is still alive, safe for a brand, or how to use it in their own market.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365760" y="1115568"/>
            <a:ext cx="841248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A73E8"/>
                </a:solidFill>
                <a:latin typeface="Google Sans Flex"/>
              </a:rPr>
              <a:t>Trend Interpreter </a:t>
            </a:r>
            <a:r>
              <a:rPr sz="1350" b="0" i="0">
                <a:solidFill>
                  <a:srgbClr val="202124"/>
                </a:solidFill>
                <a:latin typeface="Google Sans Flex"/>
              </a:rPr>
              <a:t>turns one product into local copy for each market — Korea, Japan and English-language — using memes that are in use there now and safe for a brand, with a source behind every claim and a person approving before anything goes out.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5760" y="1938528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02124"/>
                </a:solidFill>
                <a:latin typeface="Google Sans Flex"/>
              </a:rPr>
              <a:t>The problem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5760" y="2240280"/>
            <a:ext cx="3931920" cy="23774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7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</a:rPr>
              <a:t>Memes cross borders in days, and their meaning often shifts by country and by generation.</a:t>
            </a:r>
          </a:p>
          <a:p>
            <a:pPr algn="l" marL="146304" indent="-146304">
              <a:spcAft>
                <a:spcPts val="7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</a:rPr>
              <a:t>A stale or misread meme in a brand post is public, and hard to take back.</a:t>
            </a:r>
          </a:p>
          <a:p>
            <a:pPr algn="l" marL="146304" indent="-146304">
              <a:spcAft>
                <a:spcPts val="7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</a:rPr>
              <a:t>Social listening shows volume and meme wikis show meaning — neither answers “can my brand use this here, now?”</a:t>
            </a:r>
          </a:p>
          <a:p>
            <a:pPr algn="l" marL="146304" indent="-146304">
              <a:spcAft>
                <a:spcPts val="7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</a:rPr>
              <a:t>Marketers still have to turn that insight into copy by hand, market by market.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572000" y="1938528"/>
            <a:ext cx="4206240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Oval 75"/>
          <p:cNvSpPr/>
          <p:nvPr/>
        </p:nvSpPr>
        <p:spPr>
          <a:xfrm>
            <a:off x="4718304" y="2167128"/>
            <a:ext cx="310896" cy="31089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Google Sans Flex"/>
              </a:rPr>
              <a:t>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157216" y="2029968"/>
            <a:ext cx="347472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02124"/>
                </a:solidFill>
                <a:latin typeface="Google Sans Flex"/>
              </a:rPr>
              <a:t>Create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157216" y="2286000"/>
            <a:ext cx="352044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202124"/>
                </a:solidFill>
                <a:latin typeface="Google Sans Flex"/>
              </a:rPr>
              <a:t>Photo + one line, pick markets → rules pick one meme per market, with why and what was left out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4572000" y="2825496"/>
            <a:ext cx="4206240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Oval 79"/>
          <p:cNvSpPr/>
          <p:nvPr/>
        </p:nvSpPr>
        <p:spPr>
          <a:xfrm>
            <a:off x="4718304" y="3054096"/>
            <a:ext cx="310896" cy="310896"/>
          </a:xfrm>
          <a:prstGeom prst="ellipse">
            <a:avLst/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Google Sans Flex"/>
              </a:rP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157216" y="2916936"/>
            <a:ext cx="347472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02124"/>
                </a:solidFill>
                <a:latin typeface="Google Sans Flex"/>
              </a:rPr>
              <a:t>Approve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157216" y="3172968"/>
            <a:ext cx="352044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202124"/>
                </a:solidFill>
                <a:latin typeface="Google Sans Flex"/>
              </a:rPr>
              <a:t>Gemini writes 4 lines, a video script and a thumbnail plan; rules re-check each line; a person approves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4572000" y="3712464"/>
            <a:ext cx="4206240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Oval 83"/>
          <p:cNvSpPr/>
          <p:nvPr/>
        </p:nvSpPr>
        <p:spPr>
          <a:xfrm>
            <a:off x="4718304" y="3941064"/>
            <a:ext cx="310896" cy="310896"/>
          </a:xfrm>
          <a:prstGeom prst="ellipse">
            <a:avLst/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Google Sans Flex"/>
              </a:rPr>
              <a:t>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57216" y="3803904"/>
            <a:ext cx="347472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02124"/>
                </a:solidFill>
                <a:latin typeface="Google Sans Flex"/>
              </a:rPr>
              <a:t>Check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157216" y="4059936"/>
            <a:ext cx="352044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202124"/>
                </a:solidFill>
                <a:latin typeface="Google Sans Flex"/>
              </a:rPr>
              <a:t>Every meme links to its dictionary entry and sources; paste your own copy to see what is risky or fading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5760" y="4754880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</a:rPr>
              <a:t>Theme: Media, Content &amp; Digital Experiences  ·  Copy for KR, JP and English markets  ·  Trends for 10 APAC markets + global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557784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365760" y="1234440"/>
            <a:ext cx="2697480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Oval 80"/>
          <p:cNvSpPr/>
          <p:nvPr/>
        </p:nvSpPr>
        <p:spPr>
          <a:xfrm>
            <a:off x="530352" y="1389888"/>
            <a:ext cx="310896" cy="31089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Google Sans Flex"/>
              </a:rP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32688" y="1371600"/>
            <a:ext cx="201168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02124"/>
                </a:solidFill>
                <a:latin typeface="Google Sans Flex"/>
              </a:rPr>
              <a:t>How is it different?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8640" y="1874519"/>
            <a:ext cx="2359152" cy="2697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1000"/>
              </a:spcAft>
            </a:pPr>
            <a:r>
              <a:rPr sz="1150" b="0" i="0">
                <a:solidFill>
                  <a:srgbClr val="202124"/>
                </a:solidFill>
                <a:latin typeface="Google Sans Flex"/>
              </a:rPr>
              <a:t>Today each tool answers one question: social listening counts mentions, meme wikis explain meaning, trend tools rank searches.</a:t>
            </a:r>
          </a:p>
          <a:p>
            <a:pPr algn="l">
              <a:spcAft>
                <a:spcPts val="1000"/>
              </a:spcAft>
            </a:pPr>
            <a:r>
              <a:rPr sz="1150" b="0" i="0">
                <a:solidFill>
                  <a:srgbClr val="202124"/>
                </a:solidFill>
                <a:latin typeface="Google Sans Flex"/>
              </a:rPr>
              <a:t>Trend Interpreter joins meaning, lifespan, brand risk and per-country usage into one verdict — and goes on to write the content.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200400" y="1234440"/>
            <a:ext cx="2697480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Oval 84"/>
          <p:cNvSpPr/>
          <p:nvPr/>
        </p:nvSpPr>
        <p:spPr>
          <a:xfrm>
            <a:off x="3364992" y="1389888"/>
            <a:ext cx="310896" cy="310896"/>
          </a:xfrm>
          <a:prstGeom prst="ellipse">
            <a:avLst/>
          </a:prstGeom>
          <a:solidFill>
            <a:srgbClr val="188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Google Sans Flex"/>
              </a:rP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767328" y="1371600"/>
            <a:ext cx="201168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02124"/>
                </a:solidFill>
                <a:latin typeface="Google Sans Flex"/>
              </a:rPr>
              <a:t>How does it solve the problem?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383280" y="1874519"/>
            <a:ext cx="2359152" cy="2697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1000"/>
              </a:spcAft>
            </a:pPr>
            <a:r>
              <a:rPr sz="1150" b="0" i="0">
                <a:solidFill>
                  <a:srgbClr val="202124"/>
                </a:solidFill>
                <a:latin typeface="Google Sans Flex"/>
              </a:rPr>
              <a:t>A batch pipeline collects public signals and verifies each meaning against reference documents.</a:t>
            </a:r>
          </a:p>
          <a:p>
            <a:pPr algn="l">
              <a:spcAft>
                <a:spcPts val="1000"/>
              </a:spcAft>
            </a:pPr>
            <a:r>
              <a:rPr sz="1150" b="0" i="0">
                <a:solidFill>
                  <a:srgbClr val="202124"/>
                </a:solidFill>
                <a:latin typeface="Google Sans Flex"/>
              </a:rPr>
              <a:t>Rule code — not the LLM — sets lifecycle and risk from evidence. At request time Gemini reads the product and writes copy bound to the verified meaning.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6035040" y="1234440"/>
            <a:ext cx="2697480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Oval 88"/>
          <p:cNvSpPr/>
          <p:nvPr/>
        </p:nvSpPr>
        <p:spPr>
          <a:xfrm>
            <a:off x="6199632" y="1389888"/>
            <a:ext cx="310896" cy="310896"/>
          </a:xfrm>
          <a:prstGeom prst="ellipse">
            <a:avLst/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Google Sans Flex"/>
              </a:rPr>
              <a:t>3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601968" y="1371600"/>
            <a:ext cx="201168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02124"/>
                </a:solidFill>
                <a:latin typeface="Google Sans Flex"/>
              </a:rPr>
              <a:t>USP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217920" y="1874519"/>
            <a:ext cx="2359152" cy="2697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1000"/>
              </a:spcAft>
              <a:buClr>
                <a:srgbClr val="5F6368"/>
              </a:buClr>
              <a:buFont typeface="Arial"/>
              <a:buChar char="•"/>
            </a:pPr>
            <a:r>
              <a:rPr sz="1150" b="0" i="0">
                <a:solidFill>
                  <a:srgbClr val="202124"/>
                </a:solidFill>
                <a:latin typeface="Google Sans Flex"/>
              </a:rPr>
              <a:t>Evidence first: no source, no claim</a:t>
            </a:r>
          </a:p>
          <a:p>
            <a:pPr algn="l" marL="146304" indent="-146304">
              <a:spcAft>
                <a:spcPts val="1000"/>
              </a:spcAft>
              <a:buClr>
                <a:srgbClr val="5F6368"/>
              </a:buClr>
              <a:buFont typeface="Arial"/>
              <a:buChar char="•"/>
            </a:pPr>
            <a:r>
              <a:rPr sz="1150" b="0" i="0">
                <a:solidFill>
                  <a:srgbClr val="202124"/>
                </a:solidFill>
                <a:latin typeface="Google Sans Flex"/>
              </a:rPr>
              <a:t>The model never marks a meme “safe” on its own</a:t>
            </a:r>
          </a:p>
          <a:p>
            <a:pPr algn="l" marL="146304" indent="-146304">
              <a:spcAft>
                <a:spcPts val="1000"/>
              </a:spcAft>
              <a:buClr>
                <a:srgbClr val="5F6368"/>
              </a:buClr>
              <a:buFont typeface="Arial"/>
              <a:buChar char="•"/>
            </a:pPr>
            <a:r>
              <a:rPr sz="1150" b="0" i="0">
                <a:solidFill>
                  <a:srgbClr val="202124"/>
                </a:solidFill>
                <a:latin typeface="Google Sans Flex"/>
              </a:rPr>
              <a:t>10 JAPAC markets, collected globally</a:t>
            </a:r>
          </a:p>
          <a:p>
            <a:pPr algn="l" marL="146304" indent="-146304">
              <a:spcAft>
                <a:spcPts val="1000"/>
              </a:spcAft>
              <a:buClr>
                <a:srgbClr val="5F6368"/>
              </a:buClr>
              <a:buFont typeface="Arial"/>
              <a:buChar char="•"/>
            </a:pPr>
            <a:r>
              <a:rPr sz="1150" b="0" i="0">
                <a:solidFill>
                  <a:srgbClr val="202124"/>
                </a:solidFill>
                <a:latin typeface="Google Sans Flex"/>
              </a:rPr>
              <a:t>From trend insight to a ready script in one flow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365760" y="1188720"/>
            <a:ext cx="2697480" cy="1645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Oval 88"/>
          <p:cNvSpPr/>
          <p:nvPr/>
        </p:nvSpPr>
        <p:spPr>
          <a:xfrm>
            <a:off x="512064" y="1335024"/>
            <a:ext cx="310896" cy="31089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Google Sans Flex"/>
              </a:rPr>
              <a:t>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32688" y="1344168"/>
            <a:ext cx="1984248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02124"/>
                </a:solidFill>
                <a:latin typeface="Google Sans Flex"/>
              </a:rPr>
              <a:t>Campaign drafts per market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30352" y="1755648"/>
            <a:ext cx="2368296" cy="9875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Product photo + one line → one meme per market picked by rules (fit, tone, lifecycle, risk), then 4 lines, a video script and a thumbnail plan in that market’s language.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3200400" y="1188720"/>
            <a:ext cx="2697480" cy="1645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Oval 92"/>
          <p:cNvSpPr/>
          <p:nvPr/>
        </p:nvSpPr>
        <p:spPr>
          <a:xfrm>
            <a:off x="3346704" y="1335024"/>
            <a:ext cx="310896" cy="310896"/>
          </a:xfrm>
          <a:prstGeom prst="ellipse">
            <a:avLst/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Google Sans Flex"/>
              </a:rP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767328" y="1344168"/>
            <a:ext cx="1984248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02124"/>
                </a:solidFill>
                <a:latin typeface="Google Sans Flex"/>
              </a:rPr>
              <a:t>Rule check + human approval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364992" y="1755648"/>
            <a:ext cx="2368296" cy="9875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Every line is re-checked: meme used, no profanity, X length, one language, no “like …” intros. Failing lines are rewritten once or dropped; a person approves before copying.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6035040" y="1188720"/>
            <a:ext cx="2697480" cy="1645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Oval 96"/>
          <p:cNvSpPr/>
          <p:nvPr/>
        </p:nvSpPr>
        <p:spPr>
          <a:xfrm>
            <a:off x="6181344" y="1335024"/>
            <a:ext cx="310896" cy="310896"/>
          </a:xfrm>
          <a:prstGeom prst="ellipse">
            <a:avLst/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Google Sans Flex"/>
              </a:rPr>
              <a:t>3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601968" y="1344168"/>
            <a:ext cx="1984248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02124"/>
                </a:solidFill>
                <a:latin typeface="Google Sans Flex"/>
              </a:rPr>
              <a:t>Copy check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199632" y="1755648"/>
            <a:ext cx="2368296" cy="9875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Paste your own copy: each meme is marked fine, use with care, fading, not used in this market or don’t use, with an AI opinion on whether it is used as meant.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365760" y="2971800"/>
            <a:ext cx="2697480" cy="1645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Oval 100"/>
          <p:cNvSpPr/>
          <p:nvPr/>
        </p:nvSpPr>
        <p:spPr>
          <a:xfrm>
            <a:off x="512064" y="3118104"/>
            <a:ext cx="310896" cy="310896"/>
          </a:xfrm>
          <a:prstGeom prst="ellipse">
            <a:avLst/>
          </a:prstGeom>
          <a:solidFill>
            <a:srgbClr val="188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Google Sans Flex"/>
              </a:rP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32688" y="3127248"/>
            <a:ext cx="1984248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02124"/>
                </a:solidFill>
                <a:latin typeface="Google Sans Flex"/>
              </a:rPr>
              <a:t>Evidence-backed meme dictionary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30352" y="3538728"/>
            <a:ext cx="2368296" cy="9875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Versioned meanings. Auto-listed only with a reference document (Namuwiki, Wikipedia, Know Your Meme…); otherwise a human reviews.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3200400" y="2971800"/>
            <a:ext cx="2697480" cy="1645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Oval 104"/>
          <p:cNvSpPr/>
          <p:nvPr/>
        </p:nvSpPr>
        <p:spPr>
          <a:xfrm>
            <a:off x="3346704" y="3118104"/>
            <a:ext cx="310896" cy="31089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Google Sans Flex"/>
              </a:rPr>
              <a:t>5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767328" y="3127248"/>
            <a:ext cx="1984248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02124"/>
                </a:solidFill>
                <a:latin typeface="Google Sans Flex"/>
              </a:rPr>
              <a:t>Brand-risk levels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364992" y="3538728"/>
            <a:ext cx="2368296" cy="9875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None · Caution · Avoid · Not enough evidence — rules over classified evidence; avoid-level memes stay off public lists; reviewers can override.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6035040" y="2971800"/>
            <a:ext cx="2697480" cy="1645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Oval 108"/>
          <p:cNvSpPr/>
          <p:nvPr/>
        </p:nvSpPr>
        <p:spPr>
          <a:xfrm>
            <a:off x="6181344" y="3118104"/>
            <a:ext cx="310896" cy="310896"/>
          </a:xfrm>
          <a:prstGeom prst="ellipse">
            <a:avLst/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Google Sans Flex"/>
              </a:rP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601968" y="3127248"/>
            <a:ext cx="1984248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02124"/>
                </a:solidFill>
                <a:latin typeface="Google Sans Flex"/>
              </a:rPr>
              <a:t>Trends, briefing &amp; world map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199632" y="3538728"/>
            <a:ext cx="2368296" cy="9875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Memes in use, fading or needing care per market with 12-week mentions; a one-page market briefing; a map of how one meme differs by country.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365760" y="1097280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F6368"/>
                </a:solidFill>
                <a:latin typeface="Google Sans Flex"/>
              </a:rPr>
              <a:t>At request time — rules pick, Gemini writes, rules check, a person approves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365760" y="1417320"/>
            <a:ext cx="256032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530352" y="1527048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A73E8"/>
                </a:solidFill>
                <a:latin typeface="Google Sans Flex"/>
              </a:rPr>
              <a:t>1  Pick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30352" y="181051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5F6368"/>
                </a:solidFill>
                <a:latin typeface="Google Sans Flex"/>
              </a:rPr>
              <a:t>Product photo + one line, markets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30352" y="2121408"/>
            <a:ext cx="228600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Gemini: photo/line → product brief.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Rules score verified memes by fit, tone, lifecycle, risk → one per market, with left-outs.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2962656" y="2331720"/>
            <a:ext cx="246888" cy="0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ounded Rectangle 101"/>
          <p:cNvSpPr/>
          <p:nvPr/>
        </p:nvSpPr>
        <p:spPr>
          <a:xfrm>
            <a:off x="3246120" y="1417320"/>
            <a:ext cx="256032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TextBox 102"/>
          <p:cNvSpPr txBox="1"/>
          <p:nvPr/>
        </p:nvSpPr>
        <p:spPr>
          <a:xfrm>
            <a:off x="3410712" y="1527048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D93025"/>
                </a:solidFill>
                <a:latin typeface="Google Sans Flex"/>
              </a:rPr>
              <a:t>2  Write &amp; check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10712" y="181051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5F6368"/>
                </a:solidFill>
                <a:latin typeface="Google Sans Flex"/>
              </a:rPr>
              <a:t>Per market, in its language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410712" y="2121408"/>
            <a:ext cx="228600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Gemini: one structured call → 4 lines, video script, thumbnail plan.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Rules re-check each line; one rewrite, failing line dropped; AI opinion on meaning.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5843016" y="2331720"/>
            <a:ext cx="246888" cy="0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Rounded Rectangle 106"/>
          <p:cNvSpPr/>
          <p:nvPr/>
        </p:nvSpPr>
        <p:spPr>
          <a:xfrm>
            <a:off x="6126480" y="1417320"/>
            <a:ext cx="256032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TextBox 107"/>
          <p:cNvSpPr txBox="1"/>
          <p:nvPr/>
        </p:nvSpPr>
        <p:spPr>
          <a:xfrm>
            <a:off x="6291072" y="1527048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E37400"/>
                </a:solidFill>
                <a:latin typeface="Google Sans Flex"/>
              </a:rPr>
              <a:t>3  Approve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291072" y="181051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5F6368"/>
                </a:solidFill>
                <a:latin typeface="Google Sans Flex"/>
              </a:rPr>
              <a:t>A person decides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91072" y="2121408"/>
            <a:ext cx="228600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Nothing can be copied until a reviewer approves.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The approval is recorded with the reviewer’s name; every meme links to its evidence.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65760" y="3429000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F6368"/>
                </a:solidFill>
                <a:latin typeface="Google Sans Flex"/>
              </a:rPr>
              <a:t>Before requests — batch pipeline on the collection server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365760" y="3749039"/>
            <a:ext cx="1024128" cy="658368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TextBox 112"/>
          <p:cNvSpPr txBox="1"/>
          <p:nvPr/>
        </p:nvSpPr>
        <p:spPr>
          <a:xfrm>
            <a:off x="365760" y="3749039"/>
            <a:ext cx="1024128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Collect</a:t>
            </a:r>
          </a:p>
        </p:txBody>
      </p:sp>
      <p:cxnSp>
        <p:nvCxnSpPr>
          <p:cNvPr id="114" name="Connector 113"/>
          <p:cNvCxnSpPr/>
          <p:nvPr/>
        </p:nvCxnSpPr>
        <p:spPr>
          <a:xfrm>
            <a:off x="1408176" y="4078224"/>
            <a:ext cx="146304" cy="0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Rounded Rectangle 114"/>
          <p:cNvSpPr/>
          <p:nvPr/>
        </p:nvSpPr>
        <p:spPr>
          <a:xfrm>
            <a:off x="1572768" y="3749039"/>
            <a:ext cx="1024128" cy="658368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TextBox 115"/>
          <p:cNvSpPr txBox="1"/>
          <p:nvPr/>
        </p:nvSpPr>
        <p:spPr>
          <a:xfrm>
            <a:off x="1572768" y="3749039"/>
            <a:ext cx="1024128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Classify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(Gemma)</a:t>
            </a:r>
          </a:p>
        </p:txBody>
      </p:sp>
      <p:cxnSp>
        <p:nvCxnSpPr>
          <p:cNvPr id="117" name="Connector 116"/>
          <p:cNvCxnSpPr/>
          <p:nvPr/>
        </p:nvCxnSpPr>
        <p:spPr>
          <a:xfrm>
            <a:off x="2615184" y="4078224"/>
            <a:ext cx="146304" cy="0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Rounded Rectangle 117"/>
          <p:cNvSpPr/>
          <p:nvPr/>
        </p:nvSpPr>
        <p:spPr>
          <a:xfrm>
            <a:off x="2779776" y="3749039"/>
            <a:ext cx="1024128" cy="658368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" name="TextBox 118"/>
          <p:cNvSpPr txBox="1"/>
          <p:nvPr/>
        </p:nvSpPr>
        <p:spPr>
          <a:xfrm>
            <a:off x="2779776" y="3749039"/>
            <a:ext cx="1024128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Research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(Gemini + Search)</a:t>
            </a:r>
          </a:p>
        </p:txBody>
      </p:sp>
      <p:cxnSp>
        <p:nvCxnSpPr>
          <p:cNvPr id="120" name="Connector 119"/>
          <p:cNvCxnSpPr/>
          <p:nvPr/>
        </p:nvCxnSpPr>
        <p:spPr>
          <a:xfrm>
            <a:off x="3822191" y="4078224"/>
            <a:ext cx="146305" cy="0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Rounded Rectangle 120"/>
          <p:cNvSpPr/>
          <p:nvPr/>
        </p:nvSpPr>
        <p:spPr>
          <a:xfrm>
            <a:off x="3986784" y="3749039"/>
            <a:ext cx="1024128" cy="658368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TextBox 121"/>
          <p:cNvSpPr txBox="1"/>
          <p:nvPr/>
        </p:nvSpPr>
        <p:spPr>
          <a:xfrm>
            <a:off x="3986784" y="3749039"/>
            <a:ext cx="1024128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Verify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(rules)</a:t>
            </a:r>
          </a:p>
        </p:txBody>
      </p:sp>
      <p:cxnSp>
        <p:nvCxnSpPr>
          <p:cNvPr id="123" name="Connector 122"/>
          <p:cNvCxnSpPr/>
          <p:nvPr/>
        </p:nvCxnSpPr>
        <p:spPr>
          <a:xfrm>
            <a:off x="5029200" y="4078224"/>
            <a:ext cx="146304" cy="0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Rounded Rectangle 123"/>
          <p:cNvSpPr/>
          <p:nvPr/>
        </p:nvSpPr>
        <p:spPr>
          <a:xfrm>
            <a:off x="5193792" y="3749039"/>
            <a:ext cx="1024128" cy="658368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TextBox 124"/>
          <p:cNvSpPr txBox="1"/>
          <p:nvPr/>
        </p:nvSpPr>
        <p:spPr>
          <a:xfrm>
            <a:off x="5193792" y="3749039"/>
            <a:ext cx="1024128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Lifecycle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(rules)</a:t>
            </a:r>
          </a:p>
        </p:txBody>
      </p:sp>
      <p:cxnSp>
        <p:nvCxnSpPr>
          <p:cNvPr id="126" name="Connector 125"/>
          <p:cNvCxnSpPr/>
          <p:nvPr/>
        </p:nvCxnSpPr>
        <p:spPr>
          <a:xfrm>
            <a:off x="6236208" y="4078224"/>
            <a:ext cx="146304" cy="0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Rounded Rectangle 126"/>
          <p:cNvSpPr/>
          <p:nvPr/>
        </p:nvSpPr>
        <p:spPr>
          <a:xfrm>
            <a:off x="6400800" y="3749039"/>
            <a:ext cx="1024128" cy="658368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TextBox 127"/>
          <p:cNvSpPr txBox="1"/>
          <p:nvPr/>
        </p:nvSpPr>
        <p:spPr>
          <a:xfrm>
            <a:off x="6400800" y="3749039"/>
            <a:ext cx="1024128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Risk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(Gemma + rules)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7443216" y="4078224"/>
            <a:ext cx="146304" cy="0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ounded Rectangle 129"/>
          <p:cNvSpPr/>
          <p:nvPr/>
        </p:nvSpPr>
        <p:spPr>
          <a:xfrm>
            <a:off x="7607808" y="3749039"/>
            <a:ext cx="1024128" cy="658368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TextBox 130"/>
          <p:cNvSpPr txBox="1"/>
          <p:nvPr/>
        </p:nvSpPr>
        <p:spPr>
          <a:xfrm>
            <a:off x="7607808" y="3749039"/>
            <a:ext cx="1024128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Publish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5760" y="4553712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</a:rPr>
              <a:t>Every recommendation and generated item carries its sources and observation time. Human reviewers can override meanings and risk levels; automated runs never overwrite a human decision.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4" name="Rounded Rectangle 103"/>
          <p:cNvSpPr/>
          <p:nvPr/>
        </p:nvSpPr>
        <p:spPr>
          <a:xfrm>
            <a:off x="365760" y="1143000"/>
            <a:ext cx="8412480" cy="3520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Rounded Rectangle 104"/>
          <p:cNvSpPr/>
          <p:nvPr/>
        </p:nvSpPr>
        <p:spPr>
          <a:xfrm>
            <a:off x="365760" y="1143000"/>
            <a:ext cx="8412480" cy="274320"/>
          </a:xfrm>
          <a:prstGeom prst="roundRect">
            <a:avLst>
              <a:gd name="adj" fmla="val 20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Oval 105"/>
          <p:cNvSpPr/>
          <p:nvPr/>
        </p:nvSpPr>
        <p:spPr>
          <a:xfrm>
            <a:off x="475488" y="1234440"/>
            <a:ext cx="91440" cy="91440"/>
          </a:xfrm>
          <a:prstGeom prst="ellipse">
            <a:avLst/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Oval 106"/>
          <p:cNvSpPr/>
          <p:nvPr/>
        </p:nvSpPr>
        <p:spPr>
          <a:xfrm>
            <a:off x="621792" y="1234440"/>
            <a:ext cx="91440" cy="91440"/>
          </a:xfrm>
          <a:prstGeom prst="ellipse">
            <a:avLst/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Oval 107"/>
          <p:cNvSpPr/>
          <p:nvPr/>
        </p:nvSpPr>
        <p:spPr>
          <a:xfrm>
            <a:off x="768096" y="1234440"/>
            <a:ext cx="91440" cy="91440"/>
          </a:xfrm>
          <a:prstGeom prst="ellipse">
            <a:avLst/>
          </a:prstGeom>
          <a:solidFill>
            <a:srgbClr val="188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TextBox 108"/>
          <p:cNvSpPr txBox="1"/>
          <p:nvPr/>
        </p:nvSpPr>
        <p:spPr>
          <a:xfrm>
            <a:off x="1005840" y="1161288"/>
            <a:ext cx="3657600" cy="23774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5F6368"/>
                </a:solidFill>
                <a:latin typeface="Google Sans Flex"/>
              </a:rPr>
              <a:t>trend-interpreter  /recommend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548640" y="1554480"/>
            <a:ext cx="2468880" cy="2971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" name="TextBox 110"/>
          <p:cNvSpPr txBox="1"/>
          <p:nvPr/>
        </p:nvSpPr>
        <p:spPr>
          <a:xfrm>
            <a:off x="685800" y="1627632"/>
            <a:ext cx="219456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202124"/>
                </a:solidFill>
                <a:latin typeface="Google Sans Flex"/>
              </a:rPr>
              <a:t>Your product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685800" y="1901952"/>
            <a:ext cx="219456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TextBox 112"/>
          <p:cNvSpPr txBox="1"/>
          <p:nvPr/>
        </p:nvSpPr>
        <p:spPr>
          <a:xfrm>
            <a:off x="685800" y="1901952"/>
            <a:ext cx="2194560" cy="8686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Drop a photo</a:t>
            </a:r>
          </a:p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</a:rPr>
              <a:t>JPEG · PNG · WebP, ≤ 5 MB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85800" y="2852928"/>
            <a:ext cx="2194560" cy="3840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TextBox 114"/>
          <p:cNvSpPr txBox="1"/>
          <p:nvPr/>
        </p:nvSpPr>
        <p:spPr>
          <a:xfrm>
            <a:off x="777240" y="2852928"/>
            <a:ext cx="2011680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5F6368"/>
                </a:solidFill>
                <a:latin typeface="Google Sans Flex"/>
              </a:rPr>
              <a:t>or promo copy (≤ 500 chars)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85800" y="3310128"/>
            <a:ext cx="219456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900" b="1" i="0">
                <a:solidFill>
                  <a:srgbClr val="202124"/>
                </a:solidFill>
                <a:latin typeface="Google Sans Flex"/>
              </a:rPr>
              <a:t>Markets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685800" y="3538728"/>
            <a:ext cx="457200" cy="237744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TextBox 117"/>
          <p:cNvSpPr txBox="1"/>
          <p:nvPr/>
        </p:nvSpPr>
        <p:spPr>
          <a:xfrm>
            <a:off x="685800" y="3538728"/>
            <a:ext cx="457200" cy="23774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202124"/>
                </a:solidFill>
                <a:latin typeface="Google Sans Flex"/>
              </a:rPr>
              <a:t>KR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1216152" y="3538728"/>
            <a:ext cx="457200" cy="237744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TextBox 119"/>
          <p:cNvSpPr txBox="1"/>
          <p:nvPr/>
        </p:nvSpPr>
        <p:spPr>
          <a:xfrm>
            <a:off x="1216152" y="3538728"/>
            <a:ext cx="457200" cy="23774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202124"/>
                </a:solidFill>
                <a:latin typeface="Google Sans Flex"/>
              </a:rPr>
              <a:t>JP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1746504" y="3538728"/>
            <a:ext cx="457200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TextBox 121"/>
          <p:cNvSpPr txBox="1"/>
          <p:nvPr/>
        </p:nvSpPr>
        <p:spPr>
          <a:xfrm>
            <a:off x="1746504" y="3538728"/>
            <a:ext cx="457200" cy="23774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202124"/>
                </a:solidFill>
                <a:latin typeface="Google Sans Flex"/>
              </a:rPr>
              <a:t>TW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2276856" y="3538728"/>
            <a:ext cx="457200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TextBox 123"/>
          <p:cNvSpPr txBox="1"/>
          <p:nvPr/>
        </p:nvSpPr>
        <p:spPr>
          <a:xfrm>
            <a:off x="2276856" y="3538728"/>
            <a:ext cx="457200" cy="23774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50" b="0" i="0">
                <a:solidFill>
                  <a:srgbClr val="202124"/>
                </a:solidFill>
                <a:latin typeface="Google Sans Flex"/>
              </a:rPr>
              <a:t>TH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85800" y="3822191"/>
            <a:ext cx="219456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5F6368"/>
                </a:solidFill>
                <a:latin typeface="Google Sans Flex"/>
              </a:rPr>
              <a:t>Tone: friendly · witty · premium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685800" y="4096512"/>
            <a:ext cx="2194560" cy="329184"/>
          </a:xfrm>
          <a:prstGeom prst="roundRect">
            <a:avLst>
              <a:gd name="adj" fmla="val 3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TextBox 126"/>
          <p:cNvSpPr txBox="1"/>
          <p:nvPr/>
        </p:nvSpPr>
        <p:spPr>
          <a:xfrm>
            <a:off x="685800" y="4096512"/>
            <a:ext cx="2194560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</a:rPr>
              <a:t>Recommend memes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200400" y="1554480"/>
            <a:ext cx="539496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202124"/>
                </a:solidFill>
                <a:latin typeface="Google Sans Flex"/>
              </a:rPr>
              <a:t>Recommended memes for “iced brown-sugar latte” · KR, JP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3200400" y="1847088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</a:rPr>
              <a:t>Meme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160520" y="1847088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</a:rPr>
              <a:t>Meaning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623560" y="1847088"/>
            <a:ext cx="6858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</a:rPr>
              <a:t>Spread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355080" y="1847088"/>
            <a:ext cx="64008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</a:rPr>
              <a:t>Risk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7040880" y="1847088"/>
            <a:ext cx="155448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</a:rPr>
              <a:t>Why it fits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3200400" y="2084831"/>
            <a:ext cx="5394960" cy="256032"/>
          </a:xfrm>
          <a:prstGeom prst="roundRect">
            <a:avLst>
              <a:gd name="adj" fmla="val 10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" name="Rounded Rectangle 134"/>
          <p:cNvSpPr/>
          <p:nvPr/>
        </p:nvSpPr>
        <p:spPr>
          <a:xfrm>
            <a:off x="3246120" y="2176272"/>
            <a:ext cx="640080" cy="73152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Rounded Rectangle 135"/>
          <p:cNvSpPr/>
          <p:nvPr/>
        </p:nvSpPr>
        <p:spPr>
          <a:xfrm>
            <a:off x="4206240" y="2176272"/>
            <a:ext cx="1133856" cy="73152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Rounded Rectangle 136"/>
          <p:cNvSpPr/>
          <p:nvPr/>
        </p:nvSpPr>
        <p:spPr>
          <a:xfrm>
            <a:off x="5669280" y="2176272"/>
            <a:ext cx="548640" cy="73152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" name="Rounded Rectangle 137"/>
          <p:cNvSpPr/>
          <p:nvPr/>
        </p:nvSpPr>
        <p:spPr>
          <a:xfrm>
            <a:off x="6355080" y="2130551"/>
            <a:ext cx="566928" cy="164592"/>
          </a:xfrm>
          <a:prstGeom prst="roundRect">
            <a:avLst>
              <a:gd name="adj" fmla="val 50000"/>
            </a:avLst>
          </a:prstGeom>
          <a:solidFill>
            <a:srgbClr val="188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" name="TextBox 138"/>
          <p:cNvSpPr txBox="1"/>
          <p:nvPr/>
        </p:nvSpPr>
        <p:spPr>
          <a:xfrm>
            <a:off x="6355080" y="2130551"/>
            <a:ext cx="566928" cy="1645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FFFFFF"/>
                </a:solidFill>
                <a:latin typeface="Google Sans Flex"/>
              </a:rPr>
              <a:t>None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7086600" y="2176272"/>
            <a:ext cx="1243584" cy="73152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" name="Rounded Rectangle 140"/>
          <p:cNvSpPr/>
          <p:nvPr/>
        </p:nvSpPr>
        <p:spPr>
          <a:xfrm>
            <a:off x="3200400" y="2386584"/>
            <a:ext cx="5394960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" name="Rounded Rectangle 141"/>
          <p:cNvSpPr/>
          <p:nvPr/>
        </p:nvSpPr>
        <p:spPr>
          <a:xfrm>
            <a:off x="3246120" y="2478024"/>
            <a:ext cx="640080" cy="73152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" name="Rounded Rectangle 142"/>
          <p:cNvSpPr/>
          <p:nvPr/>
        </p:nvSpPr>
        <p:spPr>
          <a:xfrm>
            <a:off x="4206240" y="2478024"/>
            <a:ext cx="1133856" cy="73152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" name="Rounded Rectangle 143"/>
          <p:cNvSpPr/>
          <p:nvPr/>
        </p:nvSpPr>
        <p:spPr>
          <a:xfrm>
            <a:off x="5669280" y="2478024"/>
            <a:ext cx="548640" cy="73152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" name="Rounded Rectangle 144"/>
          <p:cNvSpPr/>
          <p:nvPr/>
        </p:nvSpPr>
        <p:spPr>
          <a:xfrm>
            <a:off x="6355080" y="2432303"/>
            <a:ext cx="566928" cy="164592"/>
          </a:xfrm>
          <a:prstGeom prst="roundRect">
            <a:avLst>
              <a:gd name="adj" fmla="val 50000"/>
            </a:avLst>
          </a:prstGeom>
          <a:solidFill>
            <a:srgbClr val="188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" name="TextBox 145"/>
          <p:cNvSpPr txBox="1"/>
          <p:nvPr/>
        </p:nvSpPr>
        <p:spPr>
          <a:xfrm>
            <a:off x="6355080" y="2432303"/>
            <a:ext cx="566928" cy="1645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FFFFFF"/>
                </a:solidFill>
                <a:latin typeface="Google Sans Flex"/>
              </a:rPr>
              <a:t>None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7086600" y="2478024"/>
            <a:ext cx="1243584" cy="73152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" name="Rounded Rectangle 147"/>
          <p:cNvSpPr/>
          <p:nvPr/>
        </p:nvSpPr>
        <p:spPr>
          <a:xfrm>
            <a:off x="3200400" y="2688336"/>
            <a:ext cx="5394960" cy="256032"/>
          </a:xfrm>
          <a:prstGeom prst="roundRect">
            <a:avLst>
              <a:gd name="adj" fmla="val 10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9" name="Rounded Rectangle 148"/>
          <p:cNvSpPr/>
          <p:nvPr/>
        </p:nvSpPr>
        <p:spPr>
          <a:xfrm>
            <a:off x="3246120" y="2779776"/>
            <a:ext cx="640080" cy="73152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0" name="Rounded Rectangle 149"/>
          <p:cNvSpPr/>
          <p:nvPr/>
        </p:nvSpPr>
        <p:spPr>
          <a:xfrm>
            <a:off x="4206240" y="2779776"/>
            <a:ext cx="1133856" cy="73152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1" name="Rounded Rectangle 150"/>
          <p:cNvSpPr/>
          <p:nvPr/>
        </p:nvSpPr>
        <p:spPr>
          <a:xfrm>
            <a:off x="5669280" y="2779776"/>
            <a:ext cx="548640" cy="73152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2" name="Rounded Rectangle 151"/>
          <p:cNvSpPr/>
          <p:nvPr/>
        </p:nvSpPr>
        <p:spPr>
          <a:xfrm>
            <a:off x="6355080" y="2734056"/>
            <a:ext cx="566928" cy="164592"/>
          </a:xfrm>
          <a:prstGeom prst="roundRect">
            <a:avLst>
              <a:gd name="adj" fmla="val 50000"/>
            </a:avLst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" name="TextBox 152"/>
          <p:cNvSpPr txBox="1"/>
          <p:nvPr/>
        </p:nvSpPr>
        <p:spPr>
          <a:xfrm>
            <a:off x="6355080" y="2734056"/>
            <a:ext cx="566928" cy="1645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FFFFFF"/>
                </a:solidFill>
                <a:latin typeface="Google Sans Flex"/>
              </a:rPr>
              <a:t>Caution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7086600" y="2779776"/>
            <a:ext cx="1243584" cy="73152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5" name="Rounded Rectangle 154"/>
          <p:cNvSpPr/>
          <p:nvPr/>
        </p:nvSpPr>
        <p:spPr>
          <a:xfrm>
            <a:off x="3200400" y="2990087"/>
            <a:ext cx="5394960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6" name="Rounded Rectangle 155"/>
          <p:cNvSpPr/>
          <p:nvPr/>
        </p:nvSpPr>
        <p:spPr>
          <a:xfrm>
            <a:off x="3246120" y="3081527"/>
            <a:ext cx="640080" cy="73152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7" name="Rounded Rectangle 156"/>
          <p:cNvSpPr/>
          <p:nvPr/>
        </p:nvSpPr>
        <p:spPr>
          <a:xfrm>
            <a:off x="4206240" y="3081527"/>
            <a:ext cx="1133856" cy="73152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8" name="Rounded Rectangle 157"/>
          <p:cNvSpPr/>
          <p:nvPr/>
        </p:nvSpPr>
        <p:spPr>
          <a:xfrm>
            <a:off x="5669280" y="3081527"/>
            <a:ext cx="548640" cy="73152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9" name="Rounded Rectangle 158"/>
          <p:cNvSpPr/>
          <p:nvPr/>
        </p:nvSpPr>
        <p:spPr>
          <a:xfrm>
            <a:off x="6355080" y="3035807"/>
            <a:ext cx="566928" cy="164592"/>
          </a:xfrm>
          <a:prstGeom prst="roundRect">
            <a:avLst>
              <a:gd name="adj" fmla="val 50000"/>
            </a:avLst>
          </a:prstGeom>
          <a:solidFill>
            <a:srgbClr val="188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0" name="TextBox 159"/>
          <p:cNvSpPr txBox="1"/>
          <p:nvPr/>
        </p:nvSpPr>
        <p:spPr>
          <a:xfrm>
            <a:off x="6355080" y="3035807"/>
            <a:ext cx="566928" cy="1645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FFFFFF"/>
                </a:solidFill>
                <a:latin typeface="Google Sans Flex"/>
              </a:rPr>
              <a:t>None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7086600" y="3081527"/>
            <a:ext cx="1243584" cy="73152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2" name="Rounded Rectangle 161"/>
          <p:cNvSpPr/>
          <p:nvPr/>
        </p:nvSpPr>
        <p:spPr>
          <a:xfrm>
            <a:off x="3200400" y="3291839"/>
            <a:ext cx="5394960" cy="256032"/>
          </a:xfrm>
          <a:prstGeom prst="roundRect">
            <a:avLst>
              <a:gd name="adj" fmla="val 10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3" name="Rounded Rectangle 162"/>
          <p:cNvSpPr/>
          <p:nvPr/>
        </p:nvSpPr>
        <p:spPr>
          <a:xfrm>
            <a:off x="3246120" y="3383279"/>
            <a:ext cx="640080" cy="73152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4" name="Rounded Rectangle 163"/>
          <p:cNvSpPr/>
          <p:nvPr/>
        </p:nvSpPr>
        <p:spPr>
          <a:xfrm>
            <a:off x="4206240" y="3383279"/>
            <a:ext cx="1133856" cy="73152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5" name="Rounded Rectangle 164"/>
          <p:cNvSpPr/>
          <p:nvPr/>
        </p:nvSpPr>
        <p:spPr>
          <a:xfrm>
            <a:off x="5669280" y="3383279"/>
            <a:ext cx="548640" cy="73152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6" name="Rounded Rectangle 165"/>
          <p:cNvSpPr/>
          <p:nvPr/>
        </p:nvSpPr>
        <p:spPr>
          <a:xfrm>
            <a:off x="6355080" y="3337559"/>
            <a:ext cx="566928" cy="164592"/>
          </a:xfrm>
          <a:prstGeom prst="roundRect">
            <a:avLst>
              <a:gd name="adj" fmla="val 50000"/>
            </a:avLst>
          </a:prstGeom>
          <a:solidFill>
            <a:srgbClr val="5F63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7" name="TextBox 166"/>
          <p:cNvSpPr txBox="1"/>
          <p:nvPr/>
        </p:nvSpPr>
        <p:spPr>
          <a:xfrm>
            <a:off x="6355080" y="3337559"/>
            <a:ext cx="566928" cy="16459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FFFFFF"/>
                </a:solidFill>
                <a:latin typeface="Google Sans Flex"/>
              </a:rPr>
              <a:t>No data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7086600" y="3383279"/>
            <a:ext cx="1243584" cy="73152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9" name="Rounded Rectangle 168"/>
          <p:cNvSpPr/>
          <p:nvPr/>
        </p:nvSpPr>
        <p:spPr>
          <a:xfrm>
            <a:off x="3200400" y="3657600"/>
            <a:ext cx="1298448" cy="274320"/>
          </a:xfrm>
          <a:prstGeom prst="roundRect">
            <a:avLst>
              <a:gd name="adj" fmla="val 30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0" name="TextBox 169"/>
          <p:cNvSpPr txBox="1"/>
          <p:nvPr/>
        </p:nvSpPr>
        <p:spPr>
          <a:xfrm>
            <a:off x="3200400" y="3657600"/>
            <a:ext cx="1298448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</a:rPr>
              <a:t>SNS copy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4572000" y="3657600"/>
            <a:ext cx="1298448" cy="274320"/>
          </a:xfrm>
          <a:prstGeom prst="roundRect">
            <a:avLst>
              <a:gd name="adj" fmla="val 3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2" name="TextBox 171"/>
          <p:cNvSpPr txBox="1"/>
          <p:nvPr/>
        </p:nvSpPr>
        <p:spPr>
          <a:xfrm>
            <a:off x="4572000" y="3657600"/>
            <a:ext cx="1298448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Google Sans Flex"/>
              </a:rPr>
              <a:t>Short-form script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5943600" y="3657600"/>
            <a:ext cx="1298448" cy="274320"/>
          </a:xfrm>
          <a:prstGeom prst="roundRect">
            <a:avLst>
              <a:gd name="adj" fmla="val 30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" name="TextBox 173"/>
          <p:cNvSpPr txBox="1"/>
          <p:nvPr/>
        </p:nvSpPr>
        <p:spPr>
          <a:xfrm>
            <a:off x="5943600" y="3657600"/>
            <a:ext cx="1298448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</a:rPr>
              <a:t>Thumbnail plan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3200400" y="3986784"/>
            <a:ext cx="539496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6" name="TextBox 175"/>
          <p:cNvSpPr txBox="1"/>
          <p:nvPr/>
        </p:nvSpPr>
        <p:spPr>
          <a:xfrm>
            <a:off x="3310128" y="4023360"/>
            <a:ext cx="5212080" cy="47548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</a:rPr>
              <a:t>Scene 1 · 0–3 s   On screen · Caption · Line</a:t>
            </a:r>
          </a:p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</a:rPr>
              <a:t>Scene 2 · 3–8 s   …   [Copy]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Rounded Rectangle 111"/>
          <p:cNvSpPr/>
          <p:nvPr/>
        </p:nvSpPr>
        <p:spPr>
          <a:xfrm>
            <a:off x="365760" y="1143000"/>
            <a:ext cx="1965960" cy="3566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TextBox 112"/>
          <p:cNvSpPr txBox="1"/>
          <p:nvPr/>
        </p:nvSpPr>
        <p:spPr>
          <a:xfrm>
            <a:off x="502920" y="1216152"/>
            <a:ext cx="1691639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202124"/>
                </a:solidFill>
                <a:latin typeface="Google Sans Flex"/>
              </a:rPr>
              <a:t>Public data sources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2514600" y="1143000"/>
            <a:ext cx="2971800" cy="3566160"/>
          </a:xfrm>
          <a:prstGeom prst="roundRect">
            <a:avLst>
              <a:gd name="adj" fmla="val 4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TextBox 114"/>
          <p:cNvSpPr txBox="1"/>
          <p:nvPr/>
        </p:nvSpPr>
        <p:spPr>
          <a:xfrm>
            <a:off x="2651760" y="1216152"/>
            <a:ext cx="269748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202124"/>
                </a:solidFill>
                <a:latin typeface="Google Sans Flex"/>
              </a:rPr>
              <a:t>Collection server — batch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5669280" y="1143000"/>
            <a:ext cx="3108960" cy="3566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TextBox 116"/>
          <p:cNvSpPr txBox="1"/>
          <p:nvPr/>
        </p:nvSpPr>
        <p:spPr>
          <a:xfrm>
            <a:off x="5806440" y="1216152"/>
            <a:ext cx="283464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202124"/>
                </a:solidFill>
                <a:latin typeface="Google Sans Flex"/>
              </a:rPr>
              <a:t>Google Cloud — serving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502920" y="1554480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" name="TextBox 118"/>
          <p:cNvSpPr txBox="1"/>
          <p:nvPr/>
        </p:nvSpPr>
        <p:spPr>
          <a:xfrm>
            <a:off x="548640" y="1554480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202124"/>
                </a:solidFill>
                <a:latin typeface="Google Sans Flex"/>
              </a:rPr>
              <a:t>YouTube Data API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02920" y="1993391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TextBox 120"/>
          <p:cNvSpPr txBox="1"/>
          <p:nvPr/>
        </p:nvSpPr>
        <p:spPr>
          <a:xfrm>
            <a:off x="548640" y="1993391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202124"/>
                </a:solidFill>
                <a:latin typeface="Google Sans Flex"/>
              </a:rPr>
              <a:t>Google Trends (BigQuery)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502920" y="2432304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TextBox 122"/>
          <p:cNvSpPr txBox="1"/>
          <p:nvPr/>
        </p:nvSpPr>
        <p:spPr>
          <a:xfrm>
            <a:off x="548640" y="2432304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202124"/>
                </a:solidFill>
                <a:latin typeface="Google Sans Flex"/>
              </a:rPr>
              <a:t>Google News RSS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502920" y="2871215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TextBox 124"/>
          <p:cNvSpPr txBox="1"/>
          <p:nvPr/>
        </p:nvSpPr>
        <p:spPr>
          <a:xfrm>
            <a:off x="548640" y="2871215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202124"/>
                </a:solidFill>
                <a:latin typeface="Google Sans Flex"/>
              </a:rPr>
              <a:t>Naver DataLab · Search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502920" y="3310128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TextBox 126"/>
          <p:cNvSpPr txBox="1"/>
          <p:nvPr/>
        </p:nvSpPr>
        <p:spPr>
          <a:xfrm>
            <a:off x="548640" y="3310128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202124"/>
                </a:solidFill>
                <a:latin typeface="Google Sans Flex"/>
              </a:rPr>
              <a:t>Wikipedia · Wiktionary · Namuwiki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502920" y="3749039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TextBox 128"/>
          <p:cNvSpPr txBox="1"/>
          <p:nvPr/>
        </p:nvSpPr>
        <p:spPr>
          <a:xfrm>
            <a:off x="548640" y="3749039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202124"/>
                </a:solidFill>
                <a:latin typeface="Google Sans Flex"/>
              </a:rPr>
              <a:t>GDELT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502920" y="4187952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TextBox 130"/>
          <p:cNvSpPr txBox="1"/>
          <p:nvPr/>
        </p:nvSpPr>
        <p:spPr>
          <a:xfrm>
            <a:off x="548640" y="4187952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202124"/>
                </a:solidFill>
                <a:latin typeface="Google Sans Flex"/>
              </a:rPr>
              <a:t>Community forums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202124"/>
                </a:solidFill>
                <a:latin typeface="Google Sans Flex"/>
              </a:rPr>
              <a:t>(usage signal only)</a:t>
            </a:r>
          </a:p>
        </p:txBody>
      </p:sp>
      <p:cxnSp>
        <p:nvCxnSpPr>
          <p:cNvPr id="132" name="Connector 131"/>
          <p:cNvCxnSpPr/>
          <p:nvPr/>
        </p:nvCxnSpPr>
        <p:spPr>
          <a:xfrm>
            <a:off x="2240280" y="2926080"/>
            <a:ext cx="246888" cy="0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ounded Rectangle 132"/>
          <p:cNvSpPr/>
          <p:nvPr/>
        </p:nvSpPr>
        <p:spPr>
          <a:xfrm>
            <a:off x="2651760" y="1554480"/>
            <a:ext cx="269748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TextBox 133"/>
          <p:cNvSpPr txBox="1"/>
          <p:nvPr/>
        </p:nvSpPr>
        <p:spPr>
          <a:xfrm>
            <a:off x="2743200" y="1591056"/>
            <a:ext cx="25146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</a:rPr>
              <a:t>Pipeline + ADK agent team</a:t>
            </a:r>
          </a:p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202124"/>
                </a:solidFill>
                <a:latin typeface="Google Sans Flex"/>
              </a:rPr>
              <a:t>collect → classify → interpret → research → verify → track → risk → fit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2651760" y="2514600"/>
            <a:ext cx="1298448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TextBox 135"/>
          <p:cNvSpPr txBox="1"/>
          <p:nvPr/>
        </p:nvSpPr>
        <p:spPr>
          <a:xfrm>
            <a:off x="2715768" y="2551176"/>
            <a:ext cx="118872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100"/>
              </a:spcAft>
            </a:pPr>
            <a:r>
              <a:rPr sz="800" b="1" i="0">
                <a:solidFill>
                  <a:srgbClr val="188038"/>
                </a:solidFill>
                <a:latin typeface="Google Sans Flex"/>
              </a:rPr>
              <a:t>Gemma 4 12B</a:t>
            </a:r>
          </a:p>
          <a:p>
            <a:pPr algn="l">
              <a:spcAft>
                <a:spcPts val="100"/>
              </a:spcAft>
            </a:pPr>
            <a:r>
              <a:rPr sz="800" b="0" i="0">
                <a:solidFill>
                  <a:srgbClr val="202124"/>
                </a:solidFill>
                <a:latin typeface="Google Sans Flex"/>
              </a:rPr>
              <a:t>local · Ollama · Kaggle</a:t>
            </a:r>
          </a:p>
          <a:p>
            <a:pPr algn="l">
              <a:spcAft>
                <a:spcPts val="100"/>
              </a:spcAft>
            </a:pPr>
            <a:r>
              <a:rPr sz="800" b="0" i="0">
                <a:solidFill>
                  <a:srgbClr val="202124"/>
                </a:solidFill>
                <a:latin typeface="Google Sans Flex"/>
              </a:rPr>
              <a:t>classify, translate, label evidence, fit tags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4050791" y="2514600"/>
            <a:ext cx="1298448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" name="TextBox 137"/>
          <p:cNvSpPr txBox="1"/>
          <p:nvPr/>
        </p:nvSpPr>
        <p:spPr>
          <a:xfrm>
            <a:off x="4114800" y="2551176"/>
            <a:ext cx="118872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100"/>
              </a:spcAft>
            </a:pPr>
            <a:r>
              <a:rPr sz="800" b="1" i="0">
                <a:solidFill>
                  <a:srgbClr val="1A73E8"/>
                </a:solidFill>
                <a:latin typeface="Google Sans Flex"/>
              </a:rPr>
              <a:t>Gemini · Vertex AI</a:t>
            </a:r>
          </a:p>
          <a:p>
            <a:pPr algn="l">
              <a:spcAft>
                <a:spcPts val="100"/>
              </a:spcAft>
            </a:pPr>
            <a:r>
              <a:rPr sz="800" b="0" i="0">
                <a:solidFill>
                  <a:srgbClr val="202124"/>
                </a:solidFill>
                <a:latin typeface="Google Sans Flex"/>
              </a:rPr>
              <a:t>Shorts video interpretation, Search-grounded research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2651760" y="3566160"/>
            <a:ext cx="269748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TextBox 139"/>
          <p:cNvSpPr txBox="1"/>
          <p:nvPr/>
        </p:nvSpPr>
        <p:spPr>
          <a:xfrm>
            <a:off x="2651760" y="3566160"/>
            <a:ext cx="269748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</a:rPr>
              <a:t>PostgreSQL</a:t>
            </a:r>
          </a:p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</a:rPr>
              <a:t>drafts · evidence · review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2651760" y="4096512"/>
            <a:ext cx="269748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Aft>
                <a:spcPts val="4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</a:rPr>
              <a:t>Only verified, reviewed entries are published to Cloud SQL</a:t>
            </a:r>
          </a:p>
        </p:txBody>
      </p:sp>
      <p:cxnSp>
        <p:nvCxnSpPr>
          <p:cNvPr id="142" name="Connector 141"/>
          <p:cNvCxnSpPr/>
          <p:nvPr/>
        </p:nvCxnSpPr>
        <p:spPr>
          <a:xfrm>
            <a:off x="5367528" y="3794760"/>
            <a:ext cx="1929384" cy="0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TextBox 142"/>
          <p:cNvSpPr txBox="1"/>
          <p:nvPr/>
        </p:nvSpPr>
        <p:spPr>
          <a:xfrm>
            <a:off x="5669280" y="3566160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Aft>
                <a:spcPts val="40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</a:rPr>
              <a:t>publish verified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5806440" y="1572768"/>
            <a:ext cx="132588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" name="TextBox 144"/>
          <p:cNvSpPr txBox="1"/>
          <p:nvPr/>
        </p:nvSpPr>
        <p:spPr>
          <a:xfrm>
            <a:off x="5806440" y="1572768"/>
            <a:ext cx="132588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</a:rPr>
              <a:t>User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202124"/>
                </a:solidFill>
                <a:latin typeface="Google Sans Flex"/>
              </a:rPr>
              <a:t>browser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7315200" y="1572768"/>
            <a:ext cx="132588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7" name="TextBox 146"/>
          <p:cNvSpPr txBox="1"/>
          <p:nvPr/>
        </p:nvSpPr>
        <p:spPr>
          <a:xfrm>
            <a:off x="7315200" y="1572768"/>
            <a:ext cx="132588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</a:rPr>
              <a:t>Cloud Run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202124"/>
                </a:solidFill>
                <a:latin typeface="Google Sans Flex"/>
              </a:rPr>
              <a:t>Web · Next.js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7315200" y="2395728"/>
            <a:ext cx="132588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9" name="TextBox 148"/>
          <p:cNvSpPr txBox="1"/>
          <p:nvPr/>
        </p:nvSpPr>
        <p:spPr>
          <a:xfrm>
            <a:off x="7315200" y="2395728"/>
            <a:ext cx="132588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</a:rPr>
              <a:t>Cloud Run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202124"/>
                </a:solidFill>
                <a:latin typeface="Google Sans Flex"/>
              </a:rPr>
              <a:t>API · FastAPI (private)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5806440" y="2395728"/>
            <a:ext cx="132588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1" name="TextBox 150"/>
          <p:cNvSpPr txBox="1"/>
          <p:nvPr/>
        </p:nvSpPr>
        <p:spPr>
          <a:xfrm>
            <a:off x="5806440" y="2395728"/>
            <a:ext cx="132588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1A73E8"/>
                </a:solidFill>
                <a:latin typeface="Google Sans Flex"/>
              </a:rPr>
              <a:t>Vertex AI Gemini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202124"/>
                </a:solidFill>
                <a:latin typeface="Google Sans Flex"/>
              </a:rPr>
              <a:t>product brief, content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7315200" y="3511296"/>
            <a:ext cx="132588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" name="TextBox 152"/>
          <p:cNvSpPr txBox="1"/>
          <p:nvPr/>
        </p:nvSpPr>
        <p:spPr>
          <a:xfrm>
            <a:off x="7315200" y="3511296"/>
            <a:ext cx="132588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</a:rPr>
              <a:t>Cloud SQL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202124"/>
                </a:solidFill>
                <a:latin typeface="Google Sans Flex"/>
              </a:rPr>
              <a:t>PostgreSQL · published data</a:t>
            </a:r>
          </a:p>
        </p:txBody>
      </p:sp>
      <p:cxnSp>
        <p:nvCxnSpPr>
          <p:cNvPr id="154" name="Connector 153"/>
          <p:cNvCxnSpPr/>
          <p:nvPr/>
        </p:nvCxnSpPr>
        <p:spPr>
          <a:xfrm>
            <a:off x="7150608" y="1856231"/>
            <a:ext cx="146304" cy="0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7973568" y="2157984"/>
            <a:ext cx="0" cy="219456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 flipH="1">
            <a:off x="7150608" y="2679192"/>
            <a:ext cx="146304" cy="0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7973568" y="2980944"/>
            <a:ext cx="0" cy="512064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TextBox 157"/>
          <p:cNvSpPr txBox="1"/>
          <p:nvPr/>
        </p:nvSpPr>
        <p:spPr>
          <a:xfrm>
            <a:off x="5806440" y="4169663"/>
            <a:ext cx="2834640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100"/>
              </a:spcAft>
            </a:pPr>
            <a:r>
              <a:rPr sz="750" b="1" i="0">
                <a:solidFill>
                  <a:srgbClr val="202124"/>
                </a:solidFill>
                <a:latin typeface="Google Sans Flex"/>
              </a:rPr>
              <a:t>Ops</a:t>
            </a:r>
          </a:p>
          <a:p>
            <a:pPr algn="l">
              <a:spcAft>
                <a:spcPts val="1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</a:rPr>
              <a:t>Secret Manager · Artifact Registry · Cloud Monitoring → Pub/Sub → alert relay (Cloud Run) · Terraform · GitHub Actions via Workload Identity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Rounded Rectangle 119"/>
          <p:cNvSpPr/>
          <p:nvPr/>
        </p:nvSpPr>
        <p:spPr>
          <a:xfrm>
            <a:off x="365760" y="1188720"/>
            <a:ext cx="1993392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Oval 120"/>
          <p:cNvSpPr/>
          <p:nvPr/>
        </p:nvSpPr>
        <p:spPr>
          <a:xfrm>
            <a:off x="502920" y="1316736"/>
            <a:ext cx="292608" cy="292608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Google Sans Flex"/>
              </a:rPr>
              <a:t>G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68680" y="1298448"/>
            <a:ext cx="1417320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02124"/>
                </a:solidFill>
                <a:latin typeface="Google Sans Flex"/>
              </a:rPr>
              <a:t>Generative AI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21208" y="1755648"/>
            <a:ext cx="1737360" cy="2468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1" i="0">
                <a:solidFill>
                  <a:srgbClr val="202124"/>
                </a:solidFill>
                <a:latin typeface="Google Sans Flex"/>
              </a:rPr>
              <a:t>Gemini 3.8 Flash on Vertex AI</a:t>
            </a:r>
            <a:r>
              <a:rPr sz="950" b="0" i="0">
                <a:solidFill>
                  <a:srgbClr val="202124"/>
                </a:solidFill>
                <a:latin typeface="Google Sans Flex"/>
              </a:rPr>
              <a:t> — video interpretation, Search grounding, photo understanding, content generation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1" i="0">
                <a:solidFill>
                  <a:srgbClr val="202124"/>
                </a:solidFill>
                <a:latin typeface="Google Sans Flex"/>
              </a:rPr>
              <a:t>Gemma 4 12B</a:t>
            </a:r>
            <a:r>
              <a:rPr sz="950" b="0" i="0">
                <a:solidFill>
                  <a:srgbClr val="202124"/>
                </a:solidFill>
                <a:latin typeface="Google Sans Flex"/>
              </a:rPr>
              <a:t> (local, Kaggle, on-demand L4 VM) — classification, translation, evidence labeling, live re-checks for reviewers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1" i="0">
                <a:solidFill>
                  <a:srgbClr val="202124"/>
                </a:solidFill>
                <a:latin typeface="Google Sans Flex"/>
              </a:rPr>
              <a:t>Google ADK</a:t>
            </a:r>
            <a:r>
              <a:rPr sz="950" b="0" i="0">
                <a:solidFill>
                  <a:srgbClr val="202124"/>
                </a:solidFill>
                <a:latin typeface="Google Sans Flex"/>
              </a:rPr>
              <a:t> — pipeline agent team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2496312" y="1188720"/>
            <a:ext cx="1993392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Oval 124"/>
          <p:cNvSpPr/>
          <p:nvPr/>
        </p:nvSpPr>
        <p:spPr>
          <a:xfrm>
            <a:off x="2633472" y="1316736"/>
            <a:ext cx="292608" cy="292608"/>
          </a:xfrm>
          <a:prstGeom prst="ellipse">
            <a:avLst/>
          </a:prstGeom>
          <a:solidFill>
            <a:srgbClr val="188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Google Sans Flex"/>
              </a:rPr>
              <a:t>G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999232" y="1298448"/>
            <a:ext cx="1417320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02124"/>
                </a:solidFill>
                <a:latin typeface="Google Sans Flex"/>
              </a:rPr>
              <a:t>Google Cloud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651760" y="1755648"/>
            <a:ext cx="1737360" cy="2468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Cloud Run (web, API, alert relay)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Cloud SQL for PostgreSQL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Vertex AI · Compute Engine L4 GPU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Secret Manager · Artifact Registry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Pub/Sub · Cloud Monitoring &amp; Logging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Workload Identity Federation · Terraform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4626864" y="1188720"/>
            <a:ext cx="1993392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Oval 128"/>
          <p:cNvSpPr/>
          <p:nvPr/>
        </p:nvSpPr>
        <p:spPr>
          <a:xfrm>
            <a:off x="4764024" y="1316736"/>
            <a:ext cx="292608" cy="292608"/>
          </a:xfrm>
          <a:prstGeom prst="ellipse">
            <a:avLst/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Google Sans Flex"/>
              </a:rPr>
              <a:t>A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129784" y="1298448"/>
            <a:ext cx="1417320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02124"/>
                </a:solidFill>
                <a:latin typeface="Google Sans Flex"/>
              </a:rPr>
              <a:t>Application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782312" y="1755648"/>
            <a:ext cx="1737360" cy="2468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Next.js 16 · React 19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FastAPI · Python 3.12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PostgreSQL, numbered migrations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Docker Compose dev stack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Pytest · Playwright e2e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GitHub Actions CI / release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6757416" y="1188720"/>
            <a:ext cx="1993392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Oval 132"/>
          <p:cNvSpPr/>
          <p:nvPr/>
        </p:nvSpPr>
        <p:spPr>
          <a:xfrm>
            <a:off x="6894576" y="1316736"/>
            <a:ext cx="292608" cy="292608"/>
          </a:xfrm>
          <a:prstGeom prst="ellipse">
            <a:avLst/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Google Sans Flex"/>
              </a:rPr>
              <a:t>D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7260336" y="1298448"/>
            <a:ext cx="1417320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02124"/>
                </a:solidFill>
                <a:latin typeface="Google Sans Flex"/>
              </a:rPr>
              <a:t>Data sources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912864" y="1755648"/>
            <a:ext cx="1737360" cy="2468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YouTube Data API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Google Trends (BigQuery)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Google News RSS · GDELT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Naver DataLab · Search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Wikipedia · Wiktionary · Namuwiki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Community forums (counts only)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65760" y="4389120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</a:rPr>
              <a:t>Firebase / Firestore are not used: the dictionary is relational and versioned (meanings, evidence, reviews), so it lives in Cloud SQL for PostgreSQL.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Rounded Rectangle 127"/>
          <p:cNvSpPr/>
          <p:nvPr/>
        </p:nvSpPr>
        <p:spPr>
          <a:xfrm>
            <a:off x="365760" y="1188720"/>
            <a:ext cx="269748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TextBox 128"/>
          <p:cNvSpPr txBox="1"/>
          <p:nvPr/>
        </p:nvSpPr>
        <p:spPr>
          <a:xfrm>
            <a:off x="548640" y="1261872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A73E8"/>
                </a:solidFill>
                <a:latin typeface="Google Sans Flex"/>
              </a:rPr>
              <a:t>$0.0015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48640" y="1901952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5F6368"/>
                </a:solidFill>
                <a:latin typeface="Google Sans Flex"/>
              </a:rPr>
              <a:t>per request-time Gemini call*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3200400" y="1188720"/>
            <a:ext cx="269748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TextBox 131"/>
          <p:cNvSpPr txBox="1"/>
          <p:nvPr/>
        </p:nvSpPr>
        <p:spPr>
          <a:xfrm>
            <a:off x="3383280" y="1261872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D93025"/>
                </a:solidFill>
                <a:latin typeface="Google Sans Flex"/>
              </a:rPr>
              <a:t>≈ $15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383280" y="1901952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5F6368"/>
                </a:solidFill>
                <a:latin typeface="Google Sans Flex"/>
              </a:rPr>
              <a:t>per 10,000 Gemini calls*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6035040" y="1188720"/>
            <a:ext cx="269748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" name="TextBox 134"/>
          <p:cNvSpPr txBox="1"/>
          <p:nvPr/>
        </p:nvSpPr>
        <p:spPr>
          <a:xfrm>
            <a:off x="6217920" y="1261872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E37400"/>
                </a:solidFill>
                <a:latin typeface="Google Sans Flex"/>
              </a:rPr>
              <a:t>$0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1901952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5F6368"/>
                </a:solidFill>
                <a:latin typeface="Google Sans Flex"/>
              </a:rPr>
              <a:t>always-on GPU — Gemma runs in the batch; an L4 VM starts only for reviewer demos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65760" y="2606040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02124"/>
                </a:solidFill>
                <a:latin typeface="Google Sans Flex"/>
              </a:rPr>
              <a:t>Cost guards built in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65760" y="2907792"/>
            <a:ext cx="4114800" cy="1645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500"/>
              </a:spcAft>
              <a:buClr>
                <a:srgbClr val="5F6368"/>
              </a:buClr>
              <a:buFont typeface="Arial"/>
              <a:buChar char="•"/>
            </a:pPr>
            <a:r>
              <a:rPr sz="1050" b="0" i="0">
                <a:solidFill>
                  <a:srgbClr val="202124"/>
                </a:solidFill>
                <a:latin typeface="Google Sans Flex"/>
              </a:rPr>
              <a:t>Gemini daily call cap recorded in the database</a:t>
            </a:r>
          </a:p>
          <a:p>
            <a:pPr algn="l" marL="146304" indent="-146304">
              <a:spcAft>
                <a:spcPts val="500"/>
              </a:spcAft>
              <a:buClr>
                <a:srgbClr val="5F6368"/>
              </a:buClr>
              <a:buFont typeface="Arial"/>
              <a:buChar char="•"/>
            </a:pPr>
            <a:r>
              <a:rPr sz="1050" b="0" i="0">
                <a:solidFill>
                  <a:srgbClr val="202124"/>
                </a:solidFill>
                <a:latin typeface="Google Sans Flex"/>
              </a:rPr>
              <a:t>Per-instance request limit (20 / min) on recommend &amp; create</a:t>
            </a:r>
          </a:p>
          <a:p>
            <a:pPr algn="l" marL="146304" indent="-146304">
              <a:spcAft>
                <a:spcPts val="500"/>
              </a:spcAft>
              <a:buClr>
                <a:srgbClr val="5F6368"/>
              </a:buClr>
              <a:buFont typeface="Arial"/>
              <a:buChar char="•"/>
            </a:pPr>
            <a:r>
              <a:rPr sz="1050" b="0" i="0">
                <a:solidFill>
                  <a:srgbClr val="202124"/>
                </a:solidFill>
                <a:latin typeface="Google Sans Flex"/>
              </a:rPr>
              <a:t>Cloud Run scales to zero; monthly Cloud Run spend limit</a:t>
            </a:r>
          </a:p>
          <a:p>
            <a:pPr algn="l" marL="146304" indent="-146304">
              <a:spcAft>
                <a:spcPts val="500"/>
              </a:spcAft>
              <a:buClr>
                <a:srgbClr val="5F6368"/>
              </a:buClr>
              <a:buFont typeface="Arial"/>
              <a:buChar char="•"/>
            </a:pPr>
            <a:r>
              <a:rPr sz="1050" b="0" i="0">
                <a:solidFill>
                  <a:srgbClr val="202124"/>
                </a:solidFill>
                <a:latin typeface="Google Sans Flex"/>
              </a:rPr>
              <a:t>One Gemini call per request step; heavy work is batched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663440" y="2606040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02124"/>
                </a:solidFill>
                <a:latin typeface="Google Sans Flex"/>
              </a:rPr>
              <a:t>Design choice that avoided the biggest cost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4663440" y="2907792"/>
            <a:ext cx="4114800" cy="114300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" name="TextBox 140"/>
          <p:cNvSpPr txBox="1"/>
          <p:nvPr/>
        </p:nvSpPr>
        <p:spPr>
          <a:xfrm>
            <a:off x="4828032" y="2980944"/>
            <a:ext cx="3794760" cy="10241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6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</a:rPr>
              <a:t>Always-on Cloud Run L4 GPU for Gemma: </a:t>
            </a:r>
            <a:r>
              <a:rPr sz="1000" b="0" i="0">
                <a:solidFill>
                  <a:srgbClr val="202124"/>
                </a:solidFill>
                <a:latin typeface="Google Sans Flex"/>
              </a:rPr>
              <a:t>≈ $753 / month (720 h, Tier-1 list price, excluding free tier).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We run Gemma 4 in the batch pipeline and on an L4 VM that is started only when needed, and keep request-time AI on Gemini, so serving cost follows usage.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65760" y="4434840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</a:rPr>
              <a:t>*List-price estimate for gemini-3.8-flash (Vertex AI global standard, through 2026-12-31), 1,000 input + 200 output tokens; excludes thinking tokens, grounding, caching and taxes. Cloud SQL (smallest shared-core tier): [confirm from Billing].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36" name="Rounded Rectangle 135"/>
          <p:cNvSpPr/>
          <p:nvPr/>
        </p:nvSpPr>
        <p:spPr>
          <a:xfrm>
            <a:off x="365760" y="1143000"/>
            <a:ext cx="41148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TextBox 136"/>
          <p:cNvSpPr txBox="1"/>
          <p:nvPr/>
        </p:nvSpPr>
        <p:spPr>
          <a:xfrm>
            <a:off x="365760" y="1143000"/>
            <a:ext cx="4114800" cy="1417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5F6368"/>
                </a:solidFill>
                <a:latin typeface="Google Sans Flex"/>
              </a:rPr>
              <a:t>[Screenshot]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65760" y="260604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Create — one product, a meme picked per market (/)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4617720" y="1143000"/>
            <a:ext cx="41148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TextBox 139"/>
          <p:cNvSpPr txBox="1"/>
          <p:nvPr/>
        </p:nvSpPr>
        <p:spPr>
          <a:xfrm>
            <a:off x="4617720" y="1143000"/>
            <a:ext cx="4114800" cy="1417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5F6368"/>
                </a:solidFill>
                <a:latin typeface="Google Sans Flex"/>
              </a:rPr>
              <a:t>[Screenshot]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4617720" y="260604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Drafts — rule check, AI opinion and approval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365760" y="2953512"/>
            <a:ext cx="41148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" name="TextBox 142"/>
          <p:cNvSpPr txBox="1"/>
          <p:nvPr/>
        </p:nvSpPr>
        <p:spPr>
          <a:xfrm>
            <a:off x="365760" y="2953512"/>
            <a:ext cx="4114800" cy="1417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5F6368"/>
                </a:solidFill>
                <a:latin typeface="Google Sans Flex"/>
              </a:rPr>
              <a:t>[Screenshot]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65760" y="441655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Dictionary entry — can I use it, meaning and sources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4617720" y="2953512"/>
            <a:ext cx="41148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" name="TextBox 145"/>
          <p:cNvSpPr txBox="1"/>
          <p:nvPr/>
        </p:nvSpPr>
        <p:spPr>
          <a:xfrm>
            <a:off x="4617720" y="2953512"/>
            <a:ext cx="4114800" cy="1417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5F6368"/>
                </a:solidFill>
                <a:latin typeface="Google Sans Flex"/>
              </a:rPr>
              <a:t>[Screenshot]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617720" y="441655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202124"/>
                </a:solidFill>
                <a:latin typeface="Google Sans Flex"/>
              </a:rPr>
              <a:t>Copy check — fine vs. fading (/check)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Rounded Rectangle 143"/>
          <p:cNvSpPr/>
          <p:nvPr/>
        </p:nvSpPr>
        <p:spPr>
          <a:xfrm>
            <a:off x="365760" y="1143000"/>
            <a:ext cx="1993392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" name="TextBox 144"/>
          <p:cNvSpPr txBox="1"/>
          <p:nvPr/>
        </p:nvSpPr>
        <p:spPr>
          <a:xfrm>
            <a:off x="502920" y="1207008"/>
            <a:ext cx="17830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A73E8"/>
                </a:solidFill>
                <a:latin typeface="Google Sans Flex"/>
              </a:rPr>
              <a:t>40% → 91%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502920" y="1755648"/>
            <a:ext cx="178308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100"/>
              </a:spcAft>
            </a:pPr>
            <a:r>
              <a:rPr sz="900" b="0" i="0">
                <a:solidFill>
                  <a:srgbClr val="5F6368"/>
                </a:solidFill>
                <a:latin typeface="Google Sans Flex"/>
              </a:rPr>
              <a:t>Picks that fit the product</a:t>
            </a:r>
          </a:p>
          <a:p>
            <a:pPr algn="l">
              <a:spcAft>
                <a:spcPts val="100"/>
              </a:spcAft>
            </a:pPr>
            <a:r>
              <a:rPr sz="900" b="0" i="0">
                <a:solidFill>
                  <a:srgbClr val="5F6368"/>
                </a:solidFill>
                <a:latin typeface="Google Sans Flex"/>
              </a:rPr>
              <a:t>same 12 cases, round 4 → 9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2496312" y="1143000"/>
            <a:ext cx="1993392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" name="TextBox 147"/>
          <p:cNvSpPr txBox="1"/>
          <p:nvPr/>
        </p:nvSpPr>
        <p:spPr>
          <a:xfrm>
            <a:off x="2633472" y="1207008"/>
            <a:ext cx="17830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D93025"/>
                </a:solidFill>
                <a:latin typeface="Google Sans Flex"/>
              </a:rPr>
              <a:t>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633472" y="1755648"/>
            <a:ext cx="178308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100"/>
              </a:spcAft>
            </a:pPr>
            <a:r>
              <a:rPr sz="900" b="0" i="0">
                <a:solidFill>
                  <a:srgbClr val="5F6368"/>
                </a:solidFill>
                <a:latin typeface="Google Sans Flex"/>
              </a:rPr>
              <a:t>Risky picks shown as “no issue”</a:t>
            </a:r>
          </a:p>
          <a:p>
            <a:pPr algn="l">
              <a:spcAft>
                <a:spcPts val="100"/>
              </a:spcAft>
            </a:pPr>
            <a:r>
              <a:rPr sz="900" b="0" i="0">
                <a:solidFill>
                  <a:srgbClr val="5F6368"/>
                </a:solidFill>
                <a:latin typeface="Google Sans Flex"/>
              </a:rPr>
              <a:t>round 9 · was 2 in round 8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4626864" y="1143000"/>
            <a:ext cx="1993392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1" name="TextBox 150"/>
          <p:cNvSpPr txBox="1"/>
          <p:nvPr/>
        </p:nvSpPr>
        <p:spPr>
          <a:xfrm>
            <a:off x="4764024" y="1207008"/>
            <a:ext cx="17830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E37400"/>
                </a:solidFill>
                <a:latin typeface="Google Sans Flex"/>
              </a:rPr>
              <a:t>6.6 s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764024" y="1755648"/>
            <a:ext cx="178308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100"/>
              </a:spcAft>
            </a:pPr>
            <a:r>
              <a:rPr sz="900" b="0" i="0">
                <a:solidFill>
                  <a:srgbClr val="5F6368"/>
                </a:solidFill>
                <a:latin typeface="Google Sans Flex"/>
              </a:rPr>
              <a:t>Recommend latency, p50</a:t>
            </a:r>
          </a:p>
          <a:p>
            <a:pPr algn="l">
              <a:spcAft>
                <a:spcPts val="100"/>
              </a:spcAft>
            </a:pPr>
            <a:r>
              <a:rPr sz="900" b="0" i="0">
                <a:solidFill>
                  <a:srgbClr val="5F6368"/>
                </a:solidFill>
                <a:latin typeface="Google Sans Flex"/>
              </a:rPr>
              <a:t>max 14.1 s · Gemini on Vertex AI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6757416" y="1143000"/>
            <a:ext cx="1993392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" name="TextBox 153"/>
          <p:cNvSpPr txBox="1"/>
          <p:nvPr/>
        </p:nvSpPr>
        <p:spPr>
          <a:xfrm>
            <a:off x="6894576" y="1207008"/>
            <a:ext cx="17830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88038"/>
                </a:solidFill>
                <a:latin typeface="Google Sans Flex"/>
              </a:rPr>
              <a:t>16.3 s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894576" y="1755648"/>
            <a:ext cx="178308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100"/>
              </a:spcAft>
            </a:pPr>
            <a:r>
              <a:rPr sz="900" b="0" i="0">
                <a:solidFill>
                  <a:srgbClr val="5F6368"/>
                </a:solidFill>
                <a:latin typeface="Google Sans Flex"/>
              </a:rPr>
              <a:t>Create latency, p50</a:t>
            </a:r>
          </a:p>
          <a:p>
            <a:pPr algn="l">
              <a:spcAft>
                <a:spcPts val="100"/>
              </a:spcAft>
            </a:pPr>
            <a:r>
              <a:rPr sz="900" b="0" i="0">
                <a:solidFill>
                  <a:srgbClr val="5F6368"/>
                </a:solidFill>
                <a:latin typeface="Google Sans Flex"/>
              </a:rPr>
              <a:t>max 27.9 s · one structured call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365760" y="263347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02124"/>
                </a:solidFill>
                <a:latin typeface="Google Sans Flex"/>
              </a:rPr>
              <a:t>What nine rounds on the same 12 cases taught us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365760" y="2926080"/>
            <a:ext cx="4114800" cy="1554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500"/>
              </a:spcAft>
              <a:buClr>
                <a:srgbClr val="5F6368"/>
              </a:buClr>
              <a:buFont typeface="Arial"/>
              <a:buChar char="•"/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Copy introduced the meme by name (“like …”) → now forbidden and re-checked; usability 2.0 → 2.50 / 3.</a:t>
            </a:r>
          </a:p>
          <a:p>
            <a:pPr algn="l" marL="146304" indent="-146304">
              <a:spcAft>
                <a:spcPts val="500"/>
              </a:spcAft>
              <a:buClr>
                <a:srgbClr val="5F6368"/>
              </a:buClr>
              <a:buFont typeface="Arial"/>
              <a:buChar char="•"/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Generic words and site names were picked as memes → removed by reviewers; usage words fixed by a person for 56 of 170 candidates.</a:t>
            </a:r>
          </a:p>
          <a:p>
            <a:pPr algn="l" marL="146304" indent="-146304">
              <a:spcAft>
                <a:spcPts val="500"/>
              </a:spcAft>
              <a:buClr>
                <a:srgbClr val="5F6368"/>
              </a:buClr>
              <a:buFont typeface="Arial"/>
              <a:buChar char="•"/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A data refresh added unjudged candidates and fit fell to 67% → 36 candidates got a human risk decision.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4663440" y="263347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02124"/>
                </a:solidFill>
                <a:latin typeface="Google Sans Flex"/>
              </a:rPr>
              <a:t>Method and limits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663440" y="2926080"/>
            <a:ext cx="4114800" cy="1554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500"/>
              </a:spcAft>
              <a:buClr>
                <a:srgbClr val="5F6368"/>
              </a:buClr>
              <a:buFont typeface="Arial"/>
              <a:buChar char="•"/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12 cases = Korea, Japan, English-language × cosmetics, drink, running shoes, budgeting app.</a:t>
            </a:r>
          </a:p>
          <a:p>
            <a:pPr algn="l" marL="146304" indent="-146304">
              <a:spcAft>
                <a:spcPts val="500"/>
              </a:spcAft>
              <a:buClr>
                <a:srgbClr val="5F6368"/>
              </a:buClr>
              <a:buFont typeface="Arial"/>
              <a:buChar char="•"/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Measured 2026-10-09–10 with request-time Gemini on a read-only copy of production data.</a:t>
            </a:r>
          </a:p>
          <a:p>
            <a:pPr algn="l" marL="146304" indent="-146304">
              <a:spcAft>
                <a:spcPts val="500"/>
              </a:spcAft>
              <a:buClr>
                <a:srgbClr val="5F6368"/>
              </a:buClr>
              <a:buFont typeface="Arial"/>
              <a:buChar char="•"/>
            </a:pPr>
            <a:r>
              <a:rPr sz="1000" b="0" i="0">
                <a:solidFill>
                  <a:srgbClr val="202124"/>
                </a:solidFill>
                <a:latin typeface="Google Sans Flex"/>
              </a:rPr>
              <a:t>Judgments are AI drafts reviewed by one team member; 4 of 12 cases get no pick (mostly Japan).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Rounded Rectangle 151"/>
          <p:cNvSpPr/>
          <p:nvPr/>
        </p:nvSpPr>
        <p:spPr>
          <a:xfrm>
            <a:off x="365760" y="1188720"/>
            <a:ext cx="269748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" name="Oval 152"/>
          <p:cNvSpPr/>
          <p:nvPr/>
        </p:nvSpPr>
        <p:spPr>
          <a:xfrm>
            <a:off x="530352" y="1325880"/>
            <a:ext cx="310896" cy="31089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Google Sans Flex"/>
              </a:rPr>
              <a:t>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32688" y="1307592"/>
            <a:ext cx="2011680" cy="3474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02124"/>
                </a:solidFill>
                <a:latin typeface="Google Sans Flex"/>
              </a:rPr>
              <a:t>Before submission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548640" y="1828800"/>
            <a:ext cx="2377440" cy="2468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</a:rPr>
              <a:t>Final dictionary refresh, then re-measure the 12 cases</a:t>
            </a:r>
          </a:p>
          <a:p>
            <a:pPr algn="l" marL="146304" indent="-146304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</a:rPr>
              <a:t>Show Gemma classifying live on the L4 VM in the demo</a:t>
            </a:r>
          </a:p>
          <a:p>
            <a:pPr algn="l" marL="146304" indent="-146304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</a:rPr>
              <a:t>More Japanese candidates: 3 of 4 products get no pick</a:t>
            </a:r>
          </a:p>
          <a:p>
            <a:pPr algn="l" marL="146304" indent="-146304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</a:rPr>
              <a:t>Human labels for list-filter precision and recall</a:t>
            </a:r>
          </a:p>
          <a:p>
            <a:pPr algn="l" marL="146304" indent="-146304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</a:rPr>
              <a:t>Cross-check every entry against reference docs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3200400" y="1188720"/>
            <a:ext cx="269748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8" name="Oval 157"/>
          <p:cNvSpPr/>
          <p:nvPr/>
        </p:nvSpPr>
        <p:spPr>
          <a:xfrm>
            <a:off x="3364992" y="1325880"/>
            <a:ext cx="310896" cy="310896"/>
          </a:xfrm>
          <a:prstGeom prst="ellipse">
            <a:avLst/>
          </a:prstGeom>
          <a:solidFill>
            <a:srgbClr val="188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Google Sans Flex"/>
              </a:rPr>
              <a:t>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3767328" y="1307592"/>
            <a:ext cx="2011680" cy="3474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02124"/>
                </a:solidFill>
                <a:latin typeface="Google Sans Flex"/>
              </a:rPr>
              <a:t>Next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3383280" y="1828800"/>
            <a:ext cx="2377440" cy="2468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</a:rPr>
              <a:t>Term relation graph: derived memes link to the original meaning</a:t>
            </a:r>
          </a:p>
          <a:p>
            <a:pPr algn="l" marL="146304" indent="-146304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</a:rPr>
              <a:t>Model-based nuance check, only if evaluation shows rules miss it</a:t>
            </a:r>
          </a:p>
          <a:p>
            <a:pPr algn="l" marL="146304" indent="-146304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</a:rPr>
              <a:t>Team review workflow with decision history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6035040" y="1188720"/>
            <a:ext cx="269748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3" name="Oval 162"/>
          <p:cNvSpPr/>
          <p:nvPr/>
        </p:nvSpPr>
        <p:spPr>
          <a:xfrm>
            <a:off x="6199632" y="1325880"/>
            <a:ext cx="310896" cy="310896"/>
          </a:xfrm>
          <a:prstGeom prst="ellipse">
            <a:avLst/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Google Sans Flex"/>
              </a:rPr>
              <a:t>3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601968" y="1307592"/>
            <a:ext cx="2011680" cy="3474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02124"/>
                </a:solidFill>
                <a:latin typeface="Google Sans Flex"/>
              </a:rPr>
              <a:t>Later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217920" y="1828800"/>
            <a:ext cx="2377440" cy="2468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</a:rPr>
              <a:t>Link memes to songs, dances and formats</a:t>
            </a:r>
          </a:p>
          <a:p>
            <a:pPr algn="l" marL="146304" indent="-146304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</a:rPr>
              <a:t>New regions by changing the region filter</a:t>
            </a:r>
          </a:p>
          <a:p>
            <a:pPr algn="l" marL="146304" indent="-146304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</a:rPr>
              <a:t>Brand-specific avoid lists and shared workspaces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 Public Repository</a:t>
            </a:r>
            <a:r>
              <a:rPr>
                <a:solidFill>
                  <a:srgbClr val="1A73E8"/>
                </a:solidFill>
                <a:latin typeface="Google Sans Flex"/>
              </a:rPr>
              <a:t>:  https://github.com/Sihyeon-Ji/2026-google-ai-builder-cup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Video Link (3 Minutes)</a:t>
            </a:r>
            <a:r>
              <a:rPr>
                <a:solidFill>
                  <a:srgbClr val="5F6368"/>
                </a:solidFill>
                <a:latin typeface="Google Sans Flex"/>
              </a:rPr>
              <a:t>:  [YouTube / Vimeo / Drive link — under 3 minutes]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Final Product Link</a:t>
            </a:r>
            <a:r>
              <a:rPr>
                <a:solidFill>
                  <a:srgbClr val="5F6368"/>
                </a:solidFill>
                <a:latin typeface="Google Sans Flex"/>
              </a:rPr>
              <a:t>:  [Cloud Run URL]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Rounded Rectangle 159"/>
          <p:cNvSpPr/>
          <p:nvPr/>
        </p:nvSpPr>
        <p:spPr>
          <a:xfrm>
            <a:off x="365760" y="2103120"/>
            <a:ext cx="8412480" cy="2514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1" name="TextBox 160"/>
          <p:cNvSpPr txBox="1"/>
          <p:nvPr/>
        </p:nvSpPr>
        <p:spPr>
          <a:xfrm>
            <a:off x="548640" y="2212848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02124"/>
                </a:solidFill>
                <a:latin typeface="Google Sans Flex"/>
              </a:rPr>
              <a:t>Brief description — how we use Google Cloud and Gemini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548640" y="2560320"/>
            <a:ext cx="8046720" cy="2011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202124"/>
                </a:solidFill>
                <a:latin typeface="Google Sans Flex"/>
              </a:rPr>
              <a:t>Product. </a:t>
            </a:r>
            <a:r>
              <a:rPr sz="1050" b="0" i="0">
                <a:solidFill>
                  <a:srgbClr val="202124"/>
                </a:solidFill>
                <a:latin typeface="Google Sans Flex"/>
              </a:rPr>
              <a:t>Trend Interpreter shows brand marketers and short-form creators which memes are in use in each JAPAC market, which to avoid, and writes ready-to-use copy, scripts and thumbnail plans from a chosen meme, with sources for every claim.</a:t>
            </a:r>
          </a:p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1A73E8"/>
                </a:solidFill>
                <a:latin typeface="Google Sans Flex"/>
              </a:rPr>
              <a:t>Gemini (Vertex AI). </a:t>
            </a:r>
            <a:r>
              <a:rPr sz="1050" b="0" i="0">
                <a:solidFill>
                  <a:srgbClr val="202124"/>
                </a:solidFill>
                <a:latin typeface="Google Sans Flex"/>
              </a:rPr>
              <a:t>Reads Shorts videos and runs Search-grounded research in the batch pipeline; at request time it turns a product photo or copy into a structured brief and generates content in one structured call.</a:t>
            </a:r>
          </a:p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188038"/>
                </a:solidFill>
                <a:latin typeface="Google Sans Flex"/>
              </a:rPr>
              <a:t>Cloud Run. </a:t>
            </a:r>
            <a:r>
              <a:rPr sz="1050" b="0" i="0">
                <a:solidFill>
                  <a:srgbClr val="202124"/>
                </a:solidFill>
                <a:latin typeface="Google Sans Flex"/>
              </a:rPr>
              <a:t>Hosts the Next.js web app, the private FastAPI API and the alert relay; data lives in Cloud SQL for PostgreSQL.</a:t>
            </a:r>
          </a:p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5F6368"/>
                </a:solidFill>
                <a:latin typeface="Google Sans Flex"/>
              </a:rPr>
              <a:t>Firebase / Firestore. </a:t>
            </a:r>
            <a:r>
              <a:rPr sz="1050" b="0" i="0">
                <a:solidFill>
                  <a:srgbClr val="202124"/>
                </a:solidFill>
                <a:latin typeface="Google Sans Flex"/>
              </a:rPr>
              <a:t>Not used — the versioned dictionary is relational.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Impact, feasibility and scalability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7" name="Rounded Rectangle 166"/>
          <p:cNvSpPr/>
          <p:nvPr/>
        </p:nvSpPr>
        <p:spPr>
          <a:xfrm>
            <a:off x="365760" y="1234440"/>
            <a:ext cx="2697480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8" name="Oval 167"/>
          <p:cNvSpPr/>
          <p:nvPr/>
        </p:nvSpPr>
        <p:spPr>
          <a:xfrm>
            <a:off x="530352" y="1371600"/>
            <a:ext cx="310896" cy="310896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Google Sans Flex"/>
              </a:rPr>
              <a:t>I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32688" y="1353312"/>
            <a:ext cx="2011680" cy="3474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02124"/>
                </a:solidFill>
                <a:latin typeface="Google Sans Flex"/>
              </a:rPr>
              <a:t>Impact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548640" y="1847088"/>
            <a:ext cx="2377440" cy="2743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</a:rPr>
              <a:t>Marketers check lifespan and risk before a meme goes into a public campaign.</a:t>
            </a:r>
          </a:p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</a:rPr>
              <a:t>Creators go from a product photo to a shootable script in one flow.</a:t>
            </a:r>
          </a:p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</a:rPr>
              <a:t>Audiences across JAPAC see memes used with the meaning they know.</a:t>
            </a:r>
          </a:p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5F6368"/>
                </a:solidFill>
                <a:latin typeface="Google Sans Flex"/>
              </a:rPr>
              <a:t>Expected benefits — not yet measured with users.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3200400" y="1234440"/>
            <a:ext cx="2697480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2" name="Oval 171"/>
          <p:cNvSpPr/>
          <p:nvPr/>
        </p:nvSpPr>
        <p:spPr>
          <a:xfrm>
            <a:off x="3364992" y="1371600"/>
            <a:ext cx="310896" cy="310896"/>
          </a:xfrm>
          <a:prstGeom prst="ellipse">
            <a:avLst/>
          </a:prstGeom>
          <a:solidFill>
            <a:srgbClr val="188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Google Sans Flex"/>
              </a:rPr>
              <a:t>F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3767328" y="1353312"/>
            <a:ext cx="2011680" cy="3474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02124"/>
                </a:solidFill>
                <a:latin typeface="Google Sans Flex"/>
              </a:rPr>
              <a:t>Feasibility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3383280" y="1847088"/>
            <a:ext cx="2377440" cy="2743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</a:rPr>
              <a:t>The full flow runs end to end locally; 8 of 20 evaluation cases completed on real data.</a:t>
            </a:r>
          </a:p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</a:rPr>
              <a:t>Verdicts are rule code; the model only writes reasons and copy.</a:t>
            </a:r>
          </a:p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</a:rPr>
              <a:t>189 API tests, 29 browser e2e tests and Terraform validation pass.</a:t>
            </a:r>
          </a:p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</a:rPr>
              <a:t>Built-in cost caps keep the service open through judging.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6035040" y="1234440"/>
            <a:ext cx="2697480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6" name="Oval 175"/>
          <p:cNvSpPr/>
          <p:nvPr/>
        </p:nvSpPr>
        <p:spPr>
          <a:xfrm>
            <a:off x="6199632" y="1371600"/>
            <a:ext cx="310896" cy="310896"/>
          </a:xfrm>
          <a:prstGeom prst="ellipse">
            <a:avLst/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Google Sans Flex"/>
              </a:rPr>
              <a:t>S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6601968" y="1353312"/>
            <a:ext cx="2011680" cy="3474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02124"/>
                </a:solidFill>
                <a:latin typeface="Google Sans Flex"/>
              </a:rPr>
              <a:t>Scalability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217920" y="1847088"/>
            <a:ext cx="2377440" cy="2743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</a:rPr>
              <a:t>Collect globally, serve per market: a new region is a filter change plus data.</a:t>
            </a:r>
          </a:p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</a:rPr>
              <a:t>Heavy AI work is batched once and reused by every user.</a:t>
            </a:r>
          </a:p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</a:rPr>
              <a:t>Stateless Cloud Run services scale to zero and back out.</a:t>
            </a:r>
          </a:p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</a:rPr>
              <a:t>The same evidence dictionary can feed other content tools via the API.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