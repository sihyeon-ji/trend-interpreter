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5" r:id="rId15"/>
    <p:sldId id="266" r:id="rId16"/>
    <p:sldId id="267" r:id="rId17"/>
    <p:sldId id="272" r:id="rId28"/>
    <p:sldId id="268" r:id="rId18"/>
    <p:sldId id="273" r:id="rId29"/>
    <p:sldId id="270" r:id="rId20"/>
    <p:sldId id="269" r:id="rId19"/>
    <p:sldId id="274" r:id="rId3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2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7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1.xml"/><Relationship Id="rId29" Type="http://schemas.openxmlformats.org/officeDocument/2006/relationships/slide" Target="slides/slide13.xml"/><Relationship Id="rId30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Gen Z</c:v>
                </c:pt>
              </c:strCache>
            </c:strRef>
          </c:tx>
          <c:spPr>
            <a:solidFill>
              <a:srgbClr val="B8C0CC"/>
            </a:solidFill>
          </c:spPr>
          <c:dPt>
            <c:idx val="2"/>
            <c:spPr>
              <a:solidFill>
                <a:srgbClr val="121826"/>
              </a:solidFill>
            </c:spPr>
          </c:dPt>
          <c:cat>
            <c:strRef>
              <c:f>Sheet1!$A$2:$A$4</c:f>
              <c:strCache>
                <c:ptCount val="3"/>
                <c:pt idx="0">
                  <c:v>Disliked it</c:v>
                </c:pt>
                <c:pt idx="1">
                  <c:v>Liked it</c:v>
                </c:pt>
                <c:pt idx="2">
                  <c:v>Saw brands use slang or trends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0.32</c:v>
                </c:pt>
                <c:pt idx="1">
                  <c:v>0.42</c:v>
                </c:pt>
                <c:pt idx="2">
                  <c:v>0.71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12182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6607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66074"/>
          </a:solidFill>
          <a:latin typeface="Google Sans Flex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fit</c:v>
                </c:pt>
              </c:strCache>
            </c:strRef>
          </c:tx>
          <c:spPr>
            <a:solidFill>
              <a:srgbClr val="B8C0CC"/>
            </a:solidFill>
          </c:spPr>
          <c:dPt>
            <c:idx val="5"/>
            <c:spPr>
              <a:solidFill>
                <a:srgbClr val="121826"/>
              </a:solidFill>
            </c:spPr>
          </c:dPt>
          <c:cat>
            <c:strRef>
              <c:f>Sheet1!$A$2:$A$7</c:f>
              <c:strCache>
                <c:ptCount val="6"/>
                <c:pt idx="0">
                  <c:v>R4</c:v>
                </c:pt>
                <c:pt idx="1">
                  <c:v>R5</c:v>
                </c:pt>
                <c:pt idx="2">
                  <c:v>R6</c:v>
                </c:pt>
                <c:pt idx="3">
                  <c:v>R7</c:v>
                </c:pt>
                <c:pt idx="4">
                  <c:v>R8</c:v>
                </c:pt>
                <c:pt idx="5">
                  <c:v>R9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0.57</c:v>
                </c:pt>
                <c:pt idx="2">
                  <c:v>0.63</c:v>
                </c:pt>
                <c:pt idx="3">
                  <c:v>0.85</c:v>
                </c:pt>
                <c:pt idx="4">
                  <c:v>0.67</c:v>
                </c:pt>
                <c:pt idx="5">
                  <c:v>0.91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12182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CE1E8"/>
            </a:solidFill>
          </a:ln>
        </c:spPr>
        <c:txPr>
          <a:bodyPr/>
          <a:lstStyle/>
          <a:p>
            <a:pPr>
              <a:defRPr sz="900">
                <a:solidFill>
                  <a:srgbClr val="56607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66074"/>
          </a:solidFill>
          <a:latin typeface="Google Sans Flex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 and leader confirmed (2026-10-11).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Japan: CyberBuzz x Digital InFact via Web担当者Forum 2024-11-14 (¥1.2038T, +13%). Korea: KOBACO survey via journalist.or.kr 2026-01-08 (₩10.10T, 59%). Sprout Social pricing page 2026-10-11. Brandwatch median $50,000/yr: Vendr Feb 2026 (secondary procurement data). Draft cost: 1 brief + 3 x (copy + opinion) = 7 calls x $0.0015.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Sources: Starbucks Korea 'Tank Day' – The Korea Herald 2026-05-19 https://www.koreaherald.com/article/10741050 (pulled within hours, CEO fired, Seattle apology, Emart −6%). Pyrah, Wang, Li, Xie, 'The Slang Paradox: Connecting or Disconnecting with Consumers?', Journal of Marketing Research 62(5), 2025 – BakeryandSnacks 2026-08-21 https://www.bakeryandsnacks.com/Article/2026/08/21/why-internet-slang-can-damage-food-and-drink-brands/ . Morning Consult 2024-12-09 https://intel.morningconsult.com/mc-content/analysis/brands-social-media-trends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Comparison from public pages, checked 2026-10-11. Brandwatch: Consumer Research one-pager (volume, peak detection, Iris), React Score (brand-mention risk), 44-language sentiment, Iris Writing Assistant (beta). Know Your Meme: entries with origin and numbered references, English only. Google Trends: relative 0-100 index, Rising/Breakout, 100+ countries, Gemini panel cites nothing. TikTok Creative Center: posts/views per hashtag, trendline, country picker incl. KR JP TW TH VN ID PH MY SG AU; Symphony writes scripts, no review step documented. See the Sources slide.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Cases from the round 4, 5, 8 and 9 judgments recorded in EVALUATION.md (Plan 09). No invented examples.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Screenshots of the deployed service, 2026-10-11 (data collected 2026-10-09). Retake after the 10-16 data refresh.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Before submission: confirm the Trend web and API are deployed on Cloud Run with Cloud SQL (Plan 05), then fill in the product URL and the demo video link.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URLs: 1 https://www.koreaherald.com/article/10741050 · 2 https://www.koreajoongangdaily.com/business/starbucks-korea-weekly-sales-sink-8-billion-won-in-wake-of-tank-day-controversy/12612519 · 3 https://www.bakeryandsnacks.com/Article/2026/08/21/why-internet-slang-can-damage-food-and-drink-brands/ · 4 https://intel.morningconsult.com/mc-content/analysis/brands-social-media-trends · 5 https://www.brandwatch.com/blog/introducing-react-score/ · 6 https://knowyourmeme.com/about · 7 https://support.google.com/trends/answer/4365533 · 8 https://ads.tiktok.com/help/article/trend-discovery · 9 https://cloud.google.com/vertex-ai/generative-ai/pricing · 11 https://webtan.impress.co.jp/n/2024/11/14/48107 · 12 https://www.journalist.or.kr/news/article.html?no=60072 · 13 https://sproutsocial.com/pricing/ · 14 https://www.vendr.com/marketplace/brandwatch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COPYBARA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Choi Eunji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 Media, Content &amp; Digital Experiences – brand marketers and short-form creators in JAPAC cannot tell whether a trending meme is still alive, safe for a brand, or how to use it in their own market.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115568"/>
            <a:ext cx="84124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21826"/>
                </a:solidFill>
                <a:latin typeface="Google Sans Flex"/>
              </a:rPr>
              <a:t>Trend Interpreter </a:t>
            </a:r>
            <a:r>
              <a:rPr sz="1350" b="0" i="0">
                <a:solidFill>
                  <a:srgbClr val="121826"/>
                </a:solidFill>
                <a:latin typeface="Google Sans Flex"/>
              </a:rPr>
              <a:t>turns one product into local copy for each market – Korea, Japan and English-language – using memes that are in use there now and safe for a brand, with a source behind every claim and a person approving before anything goes out.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9385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Why now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0" y="1938528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4718304" y="2029968"/>
            <a:ext cx="39136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Create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18304" y="2286000"/>
            <a:ext cx="3959352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Photo + one line, pick markets → rules pick one meme per market, with why and what was left out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0" y="2825496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718304" y="2916936"/>
            <a:ext cx="39136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448E0"/>
                </a:solidFill>
                <a:latin typeface="Google Sans Flex"/>
              </a:rPr>
              <a:t>Approve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8304" y="3172968"/>
            <a:ext cx="3959352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Gemini writes 4 lines, a video script and a thumbnail plan; rules re-check each line; a person approves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0" y="3712464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718304" y="3803904"/>
            <a:ext cx="39136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Check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18304" y="4059936"/>
            <a:ext cx="3959352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Every meme links to its dictionary entry and sources; paste your own copy to see what is risky or fading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Theme: Media, Content &amp; Digital Experiences  ·  Copy for KR, JP and English markets  ·  Trends for 10 JAPAC markets + global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2240280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66074"/>
                </a:solidFill>
                <a:latin typeface="Google Sans Flex"/>
              </a:rPr>
              <a:t>May 2026  ·  Starbucks Korea</a:t>
            </a:r>
          </a:p>
          <a:p>
            <a:pPr>
              <a:spcBef>
                <a:spcPts val="0"/>
              </a:spcBef>
            </a:pPr>
            <a:r>
              <a:rPr sz="1050" b="0">
                <a:solidFill>
                  <a:srgbClr val="121826"/>
                </a:solidFill>
                <a:latin typeface="Google Sans Flex"/>
              </a:rPr>
              <a:t>A “Tank Day” pun on the 5·18 democracy anniversary: pulled within hours, CEO fired, card sales −26% that week.</a:t>
            </a:r>
          </a:p>
          <a:p>
            <a:pPr>
              <a:spcBef>
                <a:spcPts val="700"/>
              </a:spcBef>
            </a:pPr>
            <a:r>
              <a:rPr sz="900" b="0">
                <a:solidFill>
                  <a:srgbClr val="566074"/>
                </a:solidFill>
                <a:latin typeface="Google Sans Flex"/>
              </a:rPr>
              <a:t>2025  ·  Journal of Marketing Research</a:t>
            </a:r>
          </a:p>
          <a:p>
            <a:pPr>
              <a:spcBef>
                <a:spcPts val="0"/>
              </a:spcBef>
            </a:pPr>
            <a:r>
              <a:rPr sz="1050" b="0">
                <a:solidFill>
                  <a:srgbClr val="121826"/>
                </a:solidFill>
                <a:latin typeface="Google Sans Flex"/>
              </a:rPr>
              <a:t>Shoppers read brand slang as inauthentic, and young consumers as negatively as older ones.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365760" y="3493008"/>
          <a:ext cx="3931920" cy="96012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90" name="TextBox 89"/>
          <p:cNvSpPr txBox="1"/>
          <p:nvPr/>
        </p:nvSpPr>
        <p:spPr>
          <a:xfrm>
            <a:off x="365760" y="446227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750" b="0">
                <a:solidFill>
                  <a:srgbClr val="566074"/>
                </a:solidFill>
                <a:latin typeface="Google Sans Flex"/>
              </a:rPr>
              <a:t>Gen Z social media users, past month · Morning Consult, Dec 2024 (n = 1,002)</a:t>
            </a:r>
          </a:p>
        </p:txBody>
      </p:sp>
      <p:sp>
        <p:nvSpPr>
          <p:cNvPr id="91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One product, local copy for every market – with memes that are safe to use now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199632" y="1371600"/>
            <a:ext cx="24140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USP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99632" y="1874519"/>
            <a:ext cx="2377440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Evidence first: no source, no claim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The model never marks a meme “safe” on its own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10 JAPAC markets, collected globally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From one product to approved local copy in one flow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475488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800" b="0">
                <a:solidFill>
                  <a:srgbClr val="566074"/>
                </a:solidFill>
                <a:latin typeface="Google Sans Flex"/>
              </a:rPr>
              <a:t>●  yes   ○  partly   –  not offered or not published · each product’s public pages, 11 Oct 2026</a:t>
            </a:r>
          </a:p>
        </p:txBody>
      </p:sp>
      <p:sp>
        <p:nvSpPr>
          <p:cNvPr id="94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Each tool answers one question; we answer “can my brand use this here, now?”</a:t>
            </a:r>
          </a:p>
        </p:txBody>
      </p:sp>
      <p:graphicFrame>
        <p:nvGraphicFramePr>
          <p:cNvPr id="95" name="Table 94"/>
          <p:cNvGraphicFramePr>
            <a:graphicFrameLocks noGrp="1"/>
          </p:cNvGraphicFramePr>
          <p:nvPr/>
        </p:nvGraphicFramePr>
        <p:xfrm>
          <a:off x="365760" y="1280160"/>
          <a:ext cx="5486400" cy="30815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777240"/>
                <a:gridCol w="777240"/>
                <a:gridCol w="777240"/>
                <a:gridCol w="777240"/>
                <a:gridCol w="777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Brandwatch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Know Your Meme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Google Trends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TikTok Creative Center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21826"/>
                          </a:solidFill>
                          <a:latin typeface="Google Sans Flex"/>
                        </a:rPr>
                        <a:t>Trend Interpreter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How much it is used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What it means, where from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Rising or fading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Safe for a brand, and why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Per JAPAC market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Writes copy a person approves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A source behind every claim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512064" y="134416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Campaign drafts per market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" y="175564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Product photo + one line → one meme per market picked by rules (fit, tone, lifecycle, risk), then 4 lines, a video script and a thumbnail plan in that market’s language.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3346704" y="134416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Rule check + human approval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46704" y="175564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Every line is re-checked: meme used, no profanity, X length, one language, no “like …” intros. Failing lines are rewritten once or dropped; a person approves before copying.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3504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181344" y="134416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Copy check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81344" y="175564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Paste your own copy: each meme is marked fine, use with care, fading, not used in this market or don’t use, with an AI opinion on whether it is used as meant.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576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512064" y="312724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Evidence-backed meme dictionary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2064" y="353872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Versioned meanings. Auto-listed only with a reference document (Namuwiki, Wikipedia, Know Your Meme…); otherwise a human reviews.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0040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346704" y="312724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Brand-risk levels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46704" y="353872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None · Caution · Avoid · Not enough evidence – rules over classified evidence; avoid-level memes stay off public lists; reviewers can override.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3504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181344" y="312724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Trends, briefing &amp; world map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81344" y="353872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Memes in use, fading or needing care per market with 12-week mentions; a one-page market briefing; a map of how one meme differs by country.</a:t>
            </a:r>
          </a:p>
        </p:txBody>
      </p:sp>
      <p:sp>
        <p:nvSpPr>
          <p:cNvPr id="112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Pick, write, check, approve – with a dictionary entry behind every word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65760" y="109728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66074"/>
                </a:solidFill>
                <a:latin typeface="Google Sans Flex"/>
              </a:rPr>
              <a:t>At request time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53035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21826"/>
                </a:solidFill>
                <a:latin typeface="Google Sans Flex"/>
              </a:rPr>
              <a:t>1  Pick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035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Product photo + one line, markets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35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Gemini: photo/line → product brief.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Rules score verified memes by fit, tone, lifecycle, risk → one per market, with left-outs.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962656" y="2331720"/>
            <a:ext cx="246888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24612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341071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21826"/>
                </a:solidFill>
                <a:latin typeface="Google Sans Flex"/>
              </a:rPr>
              <a:t>2  Write &amp; check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1071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market, in its language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1071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Gemini: one structured call → 4 lines, video script, thumbnail plan.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Rules re-check each line; one rewrite, failing line dropped; AI opinion on meaning.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843016" y="2331720"/>
            <a:ext cx="246888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612648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29107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448E0"/>
                </a:solidFill>
                <a:latin typeface="Google Sans Flex"/>
              </a:rPr>
              <a:t>3  Approve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A person decides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9107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Nothing can be copied until a reviewer approves.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The approval is recorded with the reviewer’s name; every meme links to its evidence.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3429000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66074"/>
                </a:solidFill>
                <a:latin typeface="Google Sans Flex"/>
              </a:rPr>
              <a:t>Before requests – batch pipeline on the collection server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6576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6576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Collect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08176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157276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57276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Classify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(Gemma)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615184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2779776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2779776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Research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(Gemini + Search)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3822191" y="4078224"/>
            <a:ext cx="146305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3986784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3986784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Verify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(rules)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5029200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unded Rectangle 123"/>
          <p:cNvSpPr/>
          <p:nvPr/>
        </p:nvSpPr>
        <p:spPr>
          <a:xfrm>
            <a:off x="5193792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193792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Lifecycle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(rules)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236208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640080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40080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Risk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(Gemma + rules)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7443216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760780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60780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Publish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Every recommendation and generated item carries its sources and observation time. Human reviewers can override meanings and risk levels; automated runs never overwrite a human decision.</a:t>
            </a:r>
          </a:p>
        </p:txBody>
      </p:sp>
      <p:sp>
        <p:nvSpPr>
          <p:cNvPr id="133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Rules pick and check, Gemini writes, a person approves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143000"/>
            <a:ext cx="19659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502920" y="1216152"/>
            <a:ext cx="169163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Public data sources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514600" y="1143000"/>
            <a:ext cx="2971800" cy="356616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2651760" y="1216152"/>
            <a:ext cx="26974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Collection server – batch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669280" y="1143000"/>
            <a:ext cx="31089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5806440" y="121615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Google Cloud – serving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02920" y="155448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548640" y="155448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YouTube Data API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0" y="1993391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48640" y="1993391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Google Trends (BigQuery)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02920" y="2432304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48640" y="243230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Google News RSS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02920" y="2871215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48640" y="2871215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Naver DataLab · Search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0" y="3310128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548640" y="331012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Wikipedia · Wiktionary · Namuwiki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2920" y="3749039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3749039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GDELT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2920" y="41879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548640" y="418795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Community forums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(usage signal only)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2240280" y="2926080"/>
            <a:ext cx="246888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2651760" y="1554480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2743200" y="1591056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21826"/>
                </a:solidFill>
                <a:latin typeface="Google Sans Flex"/>
              </a:rPr>
              <a:t>Pipeline + ADK agent team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21826"/>
                </a:solidFill>
                <a:latin typeface="Google Sans Flex"/>
              </a:rPr>
              <a:t>collect → classify → interpret → research → verify → track → risk → fit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51760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2715768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Gemma 4 12B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local · Ollama · Kaggle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classify, translate, label evidence, fit tags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050791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114800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Gemini · Vertex AI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Shorts video interpretation, Search-grounded research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51760" y="35661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2651760" y="3566160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21826"/>
                </a:solidFill>
                <a:latin typeface="Google Sans Flex"/>
              </a:rPr>
              <a:t>PostgreSQL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66074"/>
                </a:solidFill>
                <a:latin typeface="Google Sans Flex"/>
              </a:rPr>
              <a:t>drafts · evidence · review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651760" y="4096512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800" b="0" i="0">
                <a:solidFill>
                  <a:srgbClr val="566074"/>
                </a:solidFill>
                <a:latin typeface="Google Sans Flex"/>
              </a:rPr>
              <a:t>Only verified, reviewed entries are published to Cloud SQL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5367528" y="3794760"/>
            <a:ext cx="192938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5669280" y="356616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750" b="0" i="0">
                <a:solidFill>
                  <a:srgbClr val="566074"/>
                </a:solidFill>
                <a:latin typeface="Google Sans Flex"/>
              </a:rPr>
              <a:t>publish verified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80644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80644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User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browser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31520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31520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Web · Next.js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31520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731520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API · FastAPI (private)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80644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580644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Vertex AI Gemini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product brief, content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315200" y="3511296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7315200" y="3511296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Cloud SQL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PostgreSQL · published data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7150608" y="1856231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7973568" y="2157984"/>
            <a:ext cx="0" cy="219456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7150608" y="2679192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973568" y="2980944"/>
            <a:ext cx="0" cy="512064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5806440" y="4169663"/>
            <a:ext cx="2834640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121826"/>
                </a:solidFill>
                <a:latin typeface="Google Sans Flex"/>
              </a:rPr>
              <a:t>Ops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121826"/>
                </a:solidFill>
                <a:latin typeface="Google Sans Flex"/>
              </a:rPr>
              <a:t>Secret Manager · Artifact Registry · Cloud Monitoring → Pub/Sub → alert relay (Cloud Run) · Terraform · GitHub Actions via Workload Identity</a:t>
            </a:r>
          </a:p>
        </p:txBody>
      </p:sp>
      <p:sp>
        <p:nvSpPr>
          <p:cNvPr id="15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Heavy work runs in the batch; Cloud Run serves only verified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502920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Generative 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Gemini 3.8 Flash on Vertex AI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– video interpretation, Search grounding, photo understanding, content generation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Gemma 4 12B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(local, Kaggle, on-demand L4 VM) – classification, translation, evidence labeling, live re-checks for reviewers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Google ADK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– pipeline agent team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496312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633472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33472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Cloud Run (web, API, alert relay)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Cloud SQL for PostgreSQL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Vertex AI · Compute Engine L4 GPU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Secret Manager · Artifact Registry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Pub/Sub · Cloud Monitoring &amp; Logging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Workload Identity Federation · Terraform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26864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64024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Application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64024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Next.js 16 · React 19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FastAPI · Python 3.12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PostgreSQL, numbered migrations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Docker Compose dev stack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Pytest · Playwright e2e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GitHub Actions CI / release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57416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894576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Data sources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894576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YouTube Data API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Google Trends (BigQuery)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Google News RSS · GDELT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Naver DataLab · Search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Wikipedia · Wiktionary · Namuwiki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Community forums (counts only)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Firebase / Firestore are not used: the dictionary is relational and versioned (meanings, evidence, reviews), so it lives in Cloud SQL for PostgreSQL.</a:t>
            </a:r>
          </a:p>
        </p:txBody>
      </p:sp>
      <p:sp>
        <p:nvSpPr>
          <p:cNvPr id="137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Gemini on Vertex AI writes, Gemma does batch work, plain code decides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$0.0015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4864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request-time Gemini call*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0040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338328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≈ $15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8328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10,000 Gemini calls*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3504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621792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$0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always-on GPU – Gemma runs in the batch; an L4 VM starts only for reviewer demos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6576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Cost guards built in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65760" y="2907792"/>
            <a:ext cx="41148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Gemini daily call cap recorded in the database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Per-instance request limit (20 / min) on recommend &amp; create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Cloud Run scales to zero; monthly Cloud Run spend limit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One Gemini call per request step; heavy work is batched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6344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Design choice that avoided the biggest cost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663440" y="2907792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4828032" y="2980944"/>
            <a:ext cx="379476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121826"/>
                </a:solidFill>
                <a:latin typeface="Google Sans Flex"/>
              </a:rPr>
              <a:t>Always-on Cloud Run L4 GPU for Gemma: </a:t>
            </a:r>
            <a:r>
              <a:rPr sz="1000" b="0" i="0">
                <a:solidFill>
                  <a:srgbClr val="121826"/>
                </a:solidFill>
                <a:latin typeface="Google Sans Flex"/>
              </a:rPr>
              <a:t>≈ $753 / month (720 h, Tier-1 list price, excluding free tier).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We run Gemma 4 in the batch pipeline and on an L4 VM that is started only when needed, and keep request-time AI on Gemini, so serving cost follows usage.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5760" y="443484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*List-price estimate for gemini-3.8-flash (Vertex AI global standard, through 2026-12-31), 1,000 input + 200 output tokens; excludes thinking tokens, grounding, caching and taxes. Cloud SQL runs on a free trial instance until about 2026-10-30; a paid tier is set up before then.</a:t>
            </a:r>
          </a:p>
        </p:txBody>
      </p:sp>
      <p:sp>
        <p:nvSpPr>
          <p:cNvPr id="143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About $0.0015 per Gemini call, and no GPU running when nobody needs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36576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Create – one product, a meme picked per market (/)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1772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Explore – memes in use, fading or needing care (/trends)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Dictionary entry – can I use it, meaning and sources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1772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World map – memes per market and across borders (/map)</a:t>
            </a:r>
          </a:p>
        </p:txBody>
      </p:sp>
      <p:pic>
        <p:nvPicPr>
          <p:cNvPr id="148" name="Picture 147" descr="crop-cre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49" name="Picture 148" descr="crop-expl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1143000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0" name="Picture 149" descr="crop-entr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2953512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1" name="Picture 150" descr="crop-ma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720" y="2953512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sp>
        <p:nvSpPr>
          <p:cNvPr id="152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The deployed app, on data collected on 9 October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02920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40% → 91%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Picks that fit the product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same 12 cases, round 4 → 9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496312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633472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33472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Risky picks shown as “no issue”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round 9 · was 2 in round 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26864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4764024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6.6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64024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Recommend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max 14.1 s · Gemini on Vertex AI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757416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6894576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16.3 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94576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Create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max 27.9 s · one structured call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Picks that fit the product, by round (same 12 cases)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66344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Method and limits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63440" y="2926080"/>
            <a:ext cx="4114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12 cases = Korea, Japan, English × cosmetics, drink, running shoes, budgeting app; 4 get no pick (mostly Japan).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 on a read-only copy of production data, 2026-10-09–10; judgments are AI drafts reviewed by one person.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Between rounds: no “like …” intros (R5), meme type filter (R6), usage words fixed by people (R7), new data (R8), human risk calls (R9).</a:t>
            </a:r>
          </a:p>
        </p:txBody>
      </p:sp>
      <p:graphicFrame>
        <p:nvGraphicFramePr>
          <p:cNvPr id="160" name="Chart 159"/>
          <p:cNvGraphicFramePr>
            <a:graphicFrameLocks noGrp="1"/>
          </p:cNvGraphicFramePr>
          <p:nvPr/>
        </p:nvGraphicFramePr>
        <p:xfrm>
          <a:off x="365760" y="2926080"/>
          <a:ext cx="4114800" cy="160020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61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Picks that fit the product rose from 40% to 91% on the same 12 cases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53035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The copy named a website, not a meme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035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4, English running shoes: the copy put the site name “Know Your Meme” in its body.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Reviewers removed non-meme entries (site names, generic words) from the dictionary.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From round 5 no site name was picked.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0040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336499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The copy explained the meme instead of using it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6499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4: lines introduced the meme by name (“like …”) and read as meta copy.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A rule now rejects such a line and asks for one rewrite.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Copy usability rose from 2.0 to 2.6 out of 3 in round 5.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TextBox 176"/>
          <p:cNvSpPr txBox="1"/>
          <p:nvPr/>
        </p:nvSpPr>
        <p:spPr>
          <a:xfrm>
            <a:off x="619963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New data brought risky picks with no verdict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19963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8: “호갱” (a customer who gets ripped off) and “Meme coin” were offered for budgeting apps with no risk verdict.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36 candidates without a verdict got a human risk decision.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9: no risky pick shown as safe.</a:t>
            </a: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The rules caught what a person would otherwise have had to fix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4773168"/>
            <a:ext cx="8412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566074"/>
                </a:solidFill>
                <a:latin typeface="Google Sans Flex"/>
              </a:rPr>
              <a:t>Same 12 cases each round; judgments are AI drafts reviewed by one person. Details: EVALUATION.md and evals/recommend-rounds.csv in the repository.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48640" y="3886200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21826"/>
                </a:solidFill>
                <a:latin typeface="Google Sans Flex"/>
              </a:rPr>
              <a:t>3 entries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non-memes removed after round 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383280" y="3886200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21826"/>
                </a:solidFill>
                <a:latin typeface="Google Sans Flex"/>
              </a:rPr>
              <a:t>2.0 → 2.6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copy usability, round 4 → 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217920" y="3886200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21826"/>
                </a:solidFill>
                <a:latin typeface="Google Sans Flex"/>
              </a:rPr>
              <a:t>2 → 0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risky picks shown as safe, round 8 → 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30352" y="130759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Before submission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30352" y="1828800"/>
            <a:ext cx="239572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Final dictionary refresh, then re-measure the 12 cases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Gemma live re-checks on the L4 VM (code ready, GPU off)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More Japanese candidates: 3 of 4 products get no pick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Human labels for list-filter precision and recall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Cross-check every entry against reference docs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0040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3364992" y="130759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Next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64992" y="1828800"/>
            <a:ext cx="239572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Term relation graph: derived memes link to the original meaning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Model-based nuance check, only if evaluation shows rules miss it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Team review workflow with decision history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3504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6199632" y="130759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Later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199632" y="1828800"/>
            <a:ext cx="239572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Link memes to songs, dances and formats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New regions by changing the region filter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Brand-specific avoid lists and shared workspaces</a:t>
            </a:r>
          </a:p>
        </p:txBody>
      </p:sp>
      <p:sp>
        <p:nvSpPr>
          <p:cNvPr id="166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Next: the final data refresh, more Japanese memes and tests with marketers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53035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Who pays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035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Brand marketing teams and their agencies running social campaigns in Korea, Japan and English-language JAPAC markets.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Japan’s social media marketing spend grew 13% in 2024.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Korea’s online advertising reached ₩10.1 trillion in 2024, 59% of all ad spend.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0040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336499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What they use today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6499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Listening tools: Sprout Social costs $199–$399 per seat a month, with listening as a paid add-on.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They count mentions and sentiment; none says whether a meme is safe to use or writes local copy a person approves.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Teams fill the gap with community searches and agency checks.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TextBox 176"/>
          <p:cNvSpPr txBox="1"/>
          <p:nvPr/>
        </p:nvSpPr>
        <p:spPr>
          <a:xfrm>
            <a:off x="619963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What it costs us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19963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One 3-market draft takes about 7 Gemini calls: a product brief, then copy and an AI opinion per market.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Proposed: a per-seat subscription for brand teams and a workspace per client for agencies.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Not yet tested with paying users.</a:t>
            </a: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Brand teams already pay for social tools; none answers this question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48640" y="3886200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21826"/>
                </a:solidFill>
                <a:latin typeface="Google Sans Flex"/>
              </a:rPr>
              <a:t>¥1.2 trillion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Japan social media marketing, 2024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83280" y="3886200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21826"/>
                </a:solidFill>
                <a:latin typeface="Google Sans Flex"/>
              </a:rPr>
              <a:t>$50,000 / year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median Brandwatch contract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217920" y="3886200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21826"/>
                </a:solidFill>
                <a:latin typeface="Google Sans Flex"/>
              </a:rPr>
              <a:t>≈ $0.01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Gemini cost of one 3-market draft, list price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65760" y="4773168"/>
            <a:ext cx="8412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566074"/>
                </a:solidFill>
                <a:latin typeface="Google Sans Flex"/>
              </a:rPr>
              <a:t>Sources 11–15 on the Sources slide. Cost per draft is our estimate from list prices; the pricing model is a proposal.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Impact, feasibility and scalability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53035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Impact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035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Marketers check lifespan and risk before a meme goes into a public campaign.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Marketers go from a product photo to approved local copy in one flow.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Audiences across JAPAC see memes used with the meaning they know.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566074"/>
                </a:solidFill>
                <a:latin typeface="Google Sans Flex"/>
              </a:rPr>
              <a:t>Expected benefits – not yet measured with users.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0040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336499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Feasibility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6499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Deployed on Cloud Run with Cloud SQL; 8 of 12 evaluation cases run end to end with Gemini.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Verdicts and reasons are rule code; models draft meanings and write copy.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510 API tests, 46 browser e2e tests and Terraform validation pass.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Built-in cost caps keep the service open through judging.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TextBox 176"/>
          <p:cNvSpPr txBox="1"/>
          <p:nvPr/>
        </p:nvSpPr>
        <p:spPr>
          <a:xfrm>
            <a:off x="619963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Scalability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19963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Collect globally, serve per market: a new region is a filter change plus data.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Heavy AI work is batched once and reused by every user.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Stateless Cloud Run services scale to zero and back out.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The same evidence dictionary can feed other content tools via the API.</a:t>
            </a: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Deployed today; a new market needs data, not new code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>
                <a:solidFill>
                  <a:srgbClr val="121826"/>
                </a:solidFill>
                <a:latin typeface="Google Sans Flex"/>
              </a:rPr>
              <a:t>:  https://github.com/Sihyeon-Ji/2026-google-ai-builder-cup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>
                <a:solidFill>
                  <a:srgbClr val="566074"/>
                </a:solidFill>
                <a:latin typeface="Google Sans Flex"/>
              </a:rPr>
              <a:t>:  [YouTube / Vimeo / Drive link – under 3 minutes]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>
                <a:solidFill>
                  <a:srgbClr val="566074"/>
                </a:solidFill>
                <a:latin typeface="Google Sans Flex"/>
              </a:rPr>
              <a:t>:  [Cloud Run URL]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65760" y="2103120"/>
            <a:ext cx="8412480" cy="2514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548640" y="221284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Brief description – how we use Google Cloud and Gemini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2560320"/>
            <a:ext cx="804672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Product.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Trend Interpreter turns one product into local copy for Korea, Japan and English-language markets, using memes that are in use there now and safe for a brand. Rules pick the meme, Gemini writes, rules check every line and a person approves; every claim links to its source.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Gemini (Vertex AI).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Turns a product photo or line into a brief, then writes 4 lines, a video script and a thumbnail plan per market in one structured call; also judges whether copy uses a meme as meant. In the batch pipeline it reads trending Shorts and runs Search-grounded research.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Cloud Run.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Hosts the Next.js web app, the private FastAPI API, the publication, backup and maintenance jobs and the alert relay; data lives in Cloud SQL for PostgreSQL.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566074"/>
                </a:solidFill>
                <a:latin typeface="Google Sans Flex"/>
              </a:rPr>
              <a:t>Firebase / Firestore.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Not used – the versioned dictionary is relational.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Sources and notes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Every number in this deck has a source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1234440"/>
            <a:ext cx="4069080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Brief about the idea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  </a:t>
            </a:r>
            <a:r>
              <a:rPr sz="850">
                <a:solidFill>
                  <a:srgbClr val="121826"/>
                </a:solidFill>
                <a:latin typeface="Google Sans Flex"/>
              </a:rPr>
              <a:t>Starbucks Korea “Tank Day”: pulled within hours, CEO fired, Seattle apology. The Korea Herald, 2026-05-19.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2  </a:t>
            </a:r>
            <a:r>
              <a:rPr sz="850">
                <a:solidFill>
                  <a:srgbClr val="121826"/>
                </a:solidFill>
                <a:latin typeface="Google Sans Flex"/>
              </a:rPr>
              <a:t>Card payments −26.3% (₩32.16bn → ₩23.69bn), 18–24 May vs the week before. IGAWorks Mobile Index via Korea JoongAng Daily, 2026-05-27.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3  </a:t>
            </a:r>
            <a:r>
              <a:rPr sz="850">
                <a:solidFill>
                  <a:srgbClr val="121826"/>
                </a:solidFill>
                <a:latin typeface="Google Sans Flex"/>
              </a:rPr>
              <a:t>Pyrah, Wang, Li, Xie, “The Slang Paradox”, Journal of Marketing Research 62(5), 2025; via BakeryandSnacks, 2026-08-21.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4  </a:t>
            </a:r>
            <a:r>
              <a:rPr sz="850">
                <a:solidFill>
                  <a:srgbClr val="121826"/>
                </a:solidFill>
                <a:latin typeface="Google Sans Flex"/>
              </a:rPr>
              <a:t>Gen Z social media users, past month: 71% saw brands use slang or trends, 42% liked it, 32% did not. Morning Consult, 2024-12-09 (n = 1,002).</a:t>
            </a:r>
          </a:p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Opportunities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5  </a:t>
            </a:r>
            <a:r>
              <a:rPr sz="850">
                <a:solidFill>
                  <a:srgbClr val="121826"/>
                </a:solidFill>
                <a:latin typeface="Google Sans Flex"/>
              </a:rPr>
              <a:t>Brandwatch Consumer Research one-pager; React Score (2024-12-03); sentiment in 44 languages; Iris Writing Assistant (beta).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6  </a:t>
            </a:r>
            <a:r>
              <a:rPr sz="850">
                <a:solidFill>
                  <a:srgbClr val="121826"/>
                </a:solidFill>
                <a:latin typeface="Google Sans Flex"/>
              </a:rPr>
              <a:t>Know Your Meme: entries with origin and numbered references, English only.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7  </a:t>
            </a:r>
            <a:r>
              <a:rPr sz="850">
                <a:solidFill>
                  <a:srgbClr val="121826"/>
                </a:solidFill>
                <a:latin typeface="Google Sans Flex"/>
              </a:rPr>
              <a:t>Google Trends help: relative 0–100 index, Rising and Breakout, 100+ countries.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8  </a:t>
            </a:r>
            <a:r>
              <a:rPr sz="850">
                <a:solidFill>
                  <a:srgbClr val="121826"/>
                </a:solidFill>
                <a:latin typeface="Google Sans Flex"/>
              </a:rPr>
              <a:t>TikTok Creative Center trends by country; Symphony writes scripts (help pages, June–July 2026). All checked 2026-10-11.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709160" y="1234440"/>
            <a:ext cx="4069080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Cost and performance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9  </a:t>
            </a:r>
            <a:r>
              <a:rPr sz="850">
                <a:solidFill>
                  <a:srgbClr val="121826"/>
                </a:solidFill>
                <a:latin typeface="Google Sans Flex"/>
              </a:rPr>
              <a:t>Gemini list price: Vertex AI generative AI pricing, gemini-3.8-flash, global standard.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10  </a:t>
            </a:r>
            <a:r>
              <a:rPr sz="850">
                <a:solidFill>
                  <a:srgbClr val="121826"/>
                </a:solidFill>
                <a:latin typeface="Google Sans Flex"/>
              </a:rPr>
              <a:t>Evaluation: EVALUATION.md and evals/recommend-rounds.csv in the repository; judgments are AI drafts reviewed by one person.</a:t>
            </a:r>
          </a:p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Who pays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11  </a:t>
            </a:r>
            <a:r>
              <a:rPr sz="850">
                <a:solidFill>
                  <a:srgbClr val="121826"/>
                </a:solidFill>
                <a:latin typeface="Google Sans Flex"/>
              </a:rPr>
              <a:t>Japan social media marketing ¥1.2038 trillion in 2024 (+13%). CyberBuzz × Digital InFact via Web担当者Forum, 2024-11-14.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12  </a:t>
            </a:r>
            <a:r>
              <a:rPr sz="850">
                <a:solidFill>
                  <a:srgbClr val="121826"/>
                </a:solidFill>
                <a:latin typeface="Google Sans Flex"/>
              </a:rPr>
              <a:t>Korea online advertising ₩10.10 trillion in 2024, 59% of ad spend. KOBACO survey via journalist.or.kr, 2026-01-08.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13  </a:t>
            </a:r>
            <a:r>
              <a:rPr sz="850">
                <a:solidFill>
                  <a:srgbClr val="121826"/>
                </a:solidFill>
                <a:latin typeface="Google Sans Flex"/>
              </a:rPr>
              <a:t>Sprout Social pricing page, seen 2026-10-11.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14  </a:t>
            </a:r>
            <a:r>
              <a:rPr sz="850">
                <a:solidFill>
                  <a:srgbClr val="121826"/>
                </a:solidFill>
                <a:latin typeface="Google Sans Flex"/>
              </a:rPr>
              <a:t>Brandwatch median contract $50,000 a year (40 purchases). Vendr, February 2026 – procurement data, not a list price.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15  </a:t>
            </a:r>
            <a:r>
              <a:rPr sz="850">
                <a:solidFill>
                  <a:srgbClr val="121826"/>
                </a:solidFill>
                <a:latin typeface="Google Sans Flex"/>
              </a:rPr>
              <a:t>Draft cost: 1 product brief + 3 markets × (copy + opinion) = 7 calls × $0.0015, our estimate.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